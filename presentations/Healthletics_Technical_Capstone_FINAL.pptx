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68022" y="0"/>
            <a:ext cx="1219169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Rectangle 2"/>
          <p:cNvSpPr/>
          <p:nvPr/>
        </p:nvSpPr>
        <p:spPr>
          <a:xfrm>
            <a:off x="128124" y="0"/>
            <a:ext cx="4937240" cy="6858001"/>
          </a:xfrm>
          <a:prstGeom prst="rect">
            <a:avLst/>
          </a:prstGeom>
          <a:solidFill>
            <a:srgbClr val="090F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5"/>
          <p:cNvSpPr txBox="1"/>
          <p:nvPr/>
        </p:nvSpPr>
        <p:spPr>
          <a:xfrm>
            <a:off x="845707" y="655028"/>
            <a:ext cx="3682317" cy="1833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000">
                <a:solidFill>
                  <a:srgbClr val="F7FAF7"/>
                </a:solidFill>
              </a:defRPr>
            </a:pPr>
            <a:r>
              <a:t>HEALTHLETICS: </a:t>
            </a:r>
          </a:p>
          <a:p>
            <a:pPr>
              <a:defRPr b="1" sz="3000">
                <a:solidFill>
                  <a:srgbClr val="F7FAF7"/>
                </a:solidFill>
              </a:defRPr>
            </a:pPr>
            <a:r>
              <a:t>AI-POWERED</a:t>
            </a:r>
          </a:p>
          <a:p>
            <a:pPr>
              <a:defRPr b="1" sz="3000">
                <a:solidFill>
                  <a:srgbClr val="F7FAF7"/>
                </a:solidFill>
              </a:defRPr>
            </a:pPr>
            <a:r>
              <a:t>MEMBER RETENTION</a:t>
            </a:r>
          </a:p>
          <a:p>
            <a:pPr>
              <a:defRPr b="1" sz="2200">
                <a:solidFill>
                  <a:srgbClr val="4ABE34"/>
                </a:solidFill>
              </a:defRPr>
            </a:pPr>
            <a:r>
              <a:t>&amp; CHURN PREDICTION SYSTEM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839763" y="3069553"/>
            <a:ext cx="323072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300">
                <a:solidFill>
                  <a:srgbClr val="F7FAF7"/>
                </a:solidFill>
              </a:defRPr>
            </a:pPr>
            <a:r>
              <a:t>TECHNICAL CAPSTONE PRESENTATION, </a:t>
            </a:r>
          </a:p>
          <a:p>
            <a:pPr>
              <a:defRPr b="1" sz="1300">
                <a:solidFill>
                  <a:srgbClr val="F7FAF7"/>
                </a:solidFill>
              </a:defRPr>
            </a:pPr>
            <a:r>
              <a:t>Lynette T. Suller | PGD AI &amp; Machine Learning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01</a:t>
            </a:r>
          </a:p>
        </p:txBody>
      </p:sp>
      <p:sp>
        <p:nvSpPr>
          <p:cNvPr id="100" name="FITNESS/GYM MANAGEMENT •…"/>
          <p:cNvSpPr txBox="1"/>
          <p:nvPr/>
        </p:nvSpPr>
        <p:spPr>
          <a:xfrm>
            <a:off x="771055" y="4112306"/>
            <a:ext cx="3831621" cy="104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FITNESS/GYM MANAGEMENT • </a:t>
            </a:r>
          </a:p>
          <a:p>
            <a:pPr>
              <a:defRPr sz="210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BINARY CLASSIFICATION•</a:t>
            </a:r>
          </a:p>
          <a:p>
            <a:pPr>
              <a:defRPr sz="210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MACHINE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Rounded Rectangle 7"/>
          <p:cNvGrpSpPr/>
          <p:nvPr/>
        </p:nvGrpSpPr>
        <p:grpSpPr>
          <a:xfrm>
            <a:off x="7726678" y="4543425"/>
            <a:ext cx="3337561" cy="1234441"/>
            <a:chOff x="0" y="0"/>
            <a:chExt cx="3337559" cy="1234439"/>
          </a:xfrm>
        </p:grpSpPr>
        <p:sp>
          <p:nvSpPr>
            <p:cNvPr id="102" name="Rounded Rectangle"/>
            <p:cNvSpPr/>
            <p:nvPr/>
          </p:nvSpPr>
          <p:spPr>
            <a:xfrm>
              <a:off x="0" y="0"/>
              <a:ext cx="3337560" cy="123444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3" name="BUSINESS KPI…"/>
            <p:cNvSpPr txBox="1"/>
            <p:nvPr/>
          </p:nvSpPr>
          <p:spPr>
            <a:xfrm>
              <a:off x="147318" y="298363"/>
              <a:ext cx="3042923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chemeClr val="accent5">
                      <a:lumOff val="11617"/>
                    </a:schemeClr>
                  </a:solidFill>
                </a:defRPr>
              </a:pPr>
              <a:r>
                <a:t>BUSINESS KPI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RETENTION RATE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chemeClr val="accent5">
                      <a:lumOff val="11617"/>
                    </a:schemeClr>
                  </a:solidFill>
                </a:defRPr>
              </a:pPr>
              <a:r>
                <a:t>out Member come</a:t>
              </a:r>
            </a:p>
          </p:txBody>
        </p:sp>
      </p:grpSp>
      <p:sp>
        <p:nvSpPr>
          <p:cNvPr id="105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2"/>
          <p:cNvSpPr txBox="1"/>
          <p:nvPr/>
        </p:nvSpPr>
        <p:spPr>
          <a:xfrm>
            <a:off x="640079" y="219456"/>
            <a:ext cx="22573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01 • PROBLEM UNDERSTANDING &amp; FRAMING</a:t>
            </a:r>
          </a:p>
        </p:txBody>
      </p:sp>
      <p:sp>
        <p:nvSpPr>
          <p:cNvPr id="107" name="TextBox 3"/>
          <p:cNvSpPr txBox="1"/>
          <p:nvPr/>
        </p:nvSpPr>
        <p:spPr>
          <a:xfrm>
            <a:off x="640079" y="530351"/>
            <a:ext cx="578888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Business Problem &amp; Project Objectives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777239" y="1600200"/>
            <a:ext cx="6492242" cy="238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Healthletics needs to identify members who may be at risk of churn or non-renewal.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The objective is to support timely, positive retention actions—not simply predict churn.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Task: binary classification using membership, activity, engagement and demographic data.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Target: Churn (1 = churned, 0 = retained).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Primary evaluation metric: ROC-AUC; business KPI: member retention rate.</a:t>
            </a:r>
          </a:p>
        </p:txBody>
      </p:sp>
      <p:grpSp>
        <p:nvGrpSpPr>
          <p:cNvPr id="111" name="Rounded Rectangle 6"/>
          <p:cNvGrpSpPr/>
          <p:nvPr/>
        </p:nvGrpSpPr>
        <p:grpSpPr>
          <a:xfrm>
            <a:off x="7726678" y="2640330"/>
            <a:ext cx="3337561" cy="1234441"/>
            <a:chOff x="0" y="0"/>
            <a:chExt cx="3337559" cy="1234439"/>
          </a:xfrm>
        </p:grpSpPr>
        <p:sp>
          <p:nvSpPr>
            <p:cNvPr id="109" name="Rounded Rectangle"/>
            <p:cNvSpPr/>
            <p:nvPr/>
          </p:nvSpPr>
          <p:spPr>
            <a:xfrm>
              <a:off x="0" y="0"/>
              <a:ext cx="3337560" cy="123444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0" name="PRIMARY METRIC…"/>
            <p:cNvSpPr txBox="1"/>
            <p:nvPr/>
          </p:nvSpPr>
          <p:spPr>
            <a:xfrm>
              <a:off x="147318" y="298363"/>
              <a:ext cx="3042923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chemeClr val="accent5">
                      <a:lumOff val="11617"/>
                    </a:schemeClr>
                  </a:solidFill>
                </a:defRPr>
              </a:pPr>
              <a:r>
                <a:t>PRIMARY METRIC</a:t>
              </a: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ROC-AUC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chemeClr val="accent5">
                      <a:lumOff val="11617"/>
                    </a:schemeClr>
                  </a:solidFill>
                </a:defRPr>
              </a:pPr>
              <a:r>
                <a:t>Model discrimination</a:t>
              </a:r>
            </a:p>
          </p:txBody>
        </p:sp>
      </p:grpSp>
      <p:sp>
        <p:nvSpPr>
          <p:cNvPr id="112" name="TextBox 8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02</a:t>
            </a:r>
          </a:p>
        </p:txBody>
      </p:sp>
      <p:grpSp>
        <p:nvGrpSpPr>
          <p:cNvPr id="115" name="Rounded Rectangle 5"/>
          <p:cNvGrpSpPr/>
          <p:nvPr/>
        </p:nvGrpSpPr>
        <p:grpSpPr>
          <a:xfrm>
            <a:off x="7726678" y="737235"/>
            <a:ext cx="3337561" cy="1234441"/>
            <a:chOff x="0" y="0"/>
            <a:chExt cx="3337559" cy="1234439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3337560" cy="123444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4" name="ML TASK…"/>
            <p:cNvSpPr txBox="1"/>
            <p:nvPr/>
          </p:nvSpPr>
          <p:spPr>
            <a:xfrm>
              <a:off x="147318" y="298363"/>
              <a:ext cx="3042923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ML TASK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CLASSIFICATION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Binary target</a:t>
              </a:r>
            </a:p>
          </p:txBody>
        </p:sp>
      </p:grpSp>
      <p:sp>
        <p:nvSpPr>
          <p:cNvPr id="116" name="Text"/>
          <p:cNvSpPr txBox="1"/>
          <p:nvPr/>
        </p:nvSpPr>
        <p:spPr>
          <a:xfrm>
            <a:off x="5975772" y="3389456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2"/>
          <p:cNvSpPr txBox="1"/>
          <p:nvPr/>
        </p:nvSpPr>
        <p:spPr>
          <a:xfrm>
            <a:off x="640079" y="219456"/>
            <a:ext cx="215830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02 • DATA COLLECTION &amp; UNDERSTANDING</a:t>
            </a:r>
          </a:p>
        </p:txBody>
      </p:sp>
      <p:sp>
        <p:nvSpPr>
          <p:cNvPr id="120" name="TextBox 3"/>
          <p:cNvSpPr txBox="1"/>
          <p:nvPr/>
        </p:nvSpPr>
        <p:spPr>
          <a:xfrm>
            <a:off x="640079" y="530351"/>
            <a:ext cx="498999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Dataset Overview &amp; Data Quality</a:t>
            </a:r>
          </a:p>
        </p:txBody>
      </p:sp>
      <p:grpSp>
        <p:nvGrpSpPr>
          <p:cNvPr id="123" name="Rounded Rectangle 4"/>
          <p:cNvGrpSpPr/>
          <p:nvPr/>
        </p:nvGrpSpPr>
        <p:grpSpPr>
          <a:xfrm>
            <a:off x="640080" y="1554480"/>
            <a:ext cx="2331721" cy="1097281"/>
            <a:chOff x="0" y="0"/>
            <a:chExt cx="2331720" cy="1097280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2331721" cy="10972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ROWS…"/>
            <p:cNvSpPr txBox="1"/>
            <p:nvPr/>
          </p:nvSpPr>
          <p:spPr>
            <a:xfrm>
              <a:off x="177199" y="347053"/>
              <a:ext cx="2050474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ROWS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4,000</a:t>
              </a:r>
            </a:p>
          </p:txBody>
        </p:sp>
      </p:grpSp>
      <p:grpSp>
        <p:nvGrpSpPr>
          <p:cNvPr id="126" name="Rounded Rectangle 5"/>
          <p:cNvGrpSpPr/>
          <p:nvPr/>
        </p:nvGrpSpPr>
        <p:grpSpPr>
          <a:xfrm>
            <a:off x="3154679" y="1554480"/>
            <a:ext cx="2331721" cy="1097281"/>
            <a:chOff x="0" y="0"/>
            <a:chExt cx="2331720" cy="1097280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2331721" cy="10972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COLUMNS…"/>
            <p:cNvSpPr txBox="1"/>
            <p:nvPr/>
          </p:nvSpPr>
          <p:spPr>
            <a:xfrm>
              <a:off x="177199" y="347053"/>
              <a:ext cx="2050474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COLUMNS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14</a:t>
              </a:r>
            </a:p>
          </p:txBody>
        </p:sp>
      </p:grpSp>
      <p:grpSp>
        <p:nvGrpSpPr>
          <p:cNvPr id="129" name="Rounded Rectangle 6"/>
          <p:cNvGrpSpPr/>
          <p:nvPr/>
        </p:nvGrpSpPr>
        <p:grpSpPr>
          <a:xfrm>
            <a:off x="5669279" y="1554480"/>
            <a:ext cx="2331721" cy="1097281"/>
            <a:chOff x="0" y="0"/>
            <a:chExt cx="2331720" cy="1097280"/>
          </a:xfrm>
        </p:grpSpPr>
        <p:sp>
          <p:nvSpPr>
            <p:cNvPr id="127" name="Rounded Rectangle"/>
            <p:cNvSpPr/>
            <p:nvPr/>
          </p:nvSpPr>
          <p:spPr>
            <a:xfrm>
              <a:off x="0" y="0"/>
              <a:ext cx="2331721" cy="10972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MISSING VALUES…"/>
            <p:cNvSpPr txBox="1"/>
            <p:nvPr/>
          </p:nvSpPr>
          <p:spPr>
            <a:xfrm>
              <a:off x="177199" y="347053"/>
              <a:ext cx="2050474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MISSING VALUES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</a:t>
              </a:r>
            </a:p>
          </p:txBody>
        </p:sp>
      </p:grpSp>
      <p:grpSp>
        <p:nvGrpSpPr>
          <p:cNvPr id="132" name="Rounded Rectangle 7"/>
          <p:cNvGrpSpPr/>
          <p:nvPr/>
        </p:nvGrpSpPr>
        <p:grpSpPr>
          <a:xfrm>
            <a:off x="8183878" y="1554480"/>
            <a:ext cx="2331721" cy="1097281"/>
            <a:chOff x="0" y="0"/>
            <a:chExt cx="2331720" cy="1097280"/>
          </a:xfrm>
        </p:grpSpPr>
        <p:sp>
          <p:nvSpPr>
            <p:cNvPr id="130" name="Rounded Rectangle"/>
            <p:cNvSpPr/>
            <p:nvPr/>
          </p:nvSpPr>
          <p:spPr>
            <a:xfrm>
              <a:off x="0" y="0"/>
              <a:ext cx="2331721" cy="10972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DUPLICATES…"/>
            <p:cNvSpPr txBox="1"/>
            <p:nvPr/>
          </p:nvSpPr>
          <p:spPr>
            <a:xfrm>
              <a:off x="177199" y="347053"/>
              <a:ext cx="2050474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DUPLICATES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</a:t>
              </a:r>
            </a:p>
          </p:txBody>
        </p:sp>
      </p:grpSp>
      <p:pic>
        <p:nvPicPr>
          <p:cNvPr id="133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60919" y="2788920"/>
            <a:ext cx="4251961" cy="315468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Box 9"/>
          <p:cNvSpPr txBox="1"/>
          <p:nvPr/>
        </p:nvSpPr>
        <p:spPr>
          <a:xfrm>
            <a:off x="731520" y="2788920"/>
            <a:ext cx="6035040" cy="157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Public gym-customer churn dataset used as a proof of concept.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73.48% retained and 26.53% churned.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Predictors cover contract, activity, engagement and demographic variables.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Future validation should use appropriately collected and anonymized Healthletics data.</a:t>
            </a:r>
          </a:p>
        </p:txBody>
      </p:sp>
      <p:sp>
        <p:nvSpPr>
          <p:cNvPr id="135" name="TextBox 10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03</a:t>
            </a:r>
          </a:p>
        </p:txBody>
      </p:sp>
      <p:sp>
        <p:nvSpPr>
          <p:cNvPr id="136" name="Source: Kaggle — Gym Customers Features and Churn (Adrian Vinueza)"/>
          <p:cNvSpPr txBox="1"/>
          <p:nvPr/>
        </p:nvSpPr>
        <p:spPr>
          <a:xfrm>
            <a:off x="825963" y="6178929"/>
            <a:ext cx="485600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Source: Kaggle — Gym Customers Features and Churn (Adrian Vinueza)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640079" y="219456"/>
            <a:ext cx="175546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03 • EXPLORATORY DATA ANALYSIS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640079" y="530351"/>
            <a:ext cx="6191013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EDA: Contract Length &amp; Member Lifetime</a:t>
            </a:r>
          </a:p>
        </p:txBody>
      </p:sp>
      <p:pic>
        <p:nvPicPr>
          <p:cNvPr id="14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5794" y="1280160"/>
            <a:ext cx="5532121" cy="4297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2200" y="1280160"/>
            <a:ext cx="5532121" cy="429768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5" name="Rounded Rectangle 6"/>
          <p:cNvGrpSpPr/>
          <p:nvPr/>
        </p:nvGrpSpPr>
        <p:grpSpPr>
          <a:xfrm>
            <a:off x="731519" y="5486400"/>
            <a:ext cx="2240281" cy="658369"/>
            <a:chOff x="0" y="0"/>
            <a:chExt cx="2240279" cy="658368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224028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1-MONTH CONTRACT…"/>
            <p:cNvSpPr txBox="1"/>
            <p:nvPr/>
          </p:nvSpPr>
          <p:spPr>
            <a:xfrm>
              <a:off x="155773" y="127597"/>
              <a:ext cx="200188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1-MONTH CONTRACT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42.32% churn</a:t>
              </a:r>
            </a:p>
          </p:txBody>
        </p:sp>
      </p:grpSp>
      <p:grpSp>
        <p:nvGrpSpPr>
          <p:cNvPr id="148" name="Rounded Rectangle 7"/>
          <p:cNvGrpSpPr/>
          <p:nvPr/>
        </p:nvGrpSpPr>
        <p:grpSpPr>
          <a:xfrm>
            <a:off x="3219052" y="5486400"/>
            <a:ext cx="2240281" cy="658369"/>
            <a:chOff x="0" y="0"/>
            <a:chExt cx="2240279" cy="658368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224028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6-MONTH CONTRACT…"/>
            <p:cNvSpPr txBox="1"/>
            <p:nvPr/>
          </p:nvSpPr>
          <p:spPr>
            <a:xfrm>
              <a:off x="155773" y="127597"/>
              <a:ext cx="200188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6-MONTH CONTRACT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12.48% churn</a:t>
              </a:r>
            </a:p>
          </p:txBody>
        </p:sp>
      </p:grpSp>
      <p:grpSp>
        <p:nvGrpSpPr>
          <p:cNvPr id="151" name="Rounded Rectangle 8"/>
          <p:cNvGrpSpPr/>
          <p:nvPr/>
        </p:nvGrpSpPr>
        <p:grpSpPr>
          <a:xfrm>
            <a:off x="5706585" y="5486399"/>
            <a:ext cx="2240281" cy="658370"/>
            <a:chOff x="0" y="0"/>
            <a:chExt cx="2240279" cy="658368"/>
          </a:xfrm>
        </p:grpSpPr>
        <p:sp>
          <p:nvSpPr>
            <p:cNvPr id="149" name="Rounded Rectangle"/>
            <p:cNvSpPr/>
            <p:nvPr/>
          </p:nvSpPr>
          <p:spPr>
            <a:xfrm>
              <a:off x="0" y="0"/>
              <a:ext cx="224028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0" name="12-MONTH CONTRACT…"/>
            <p:cNvSpPr txBox="1"/>
            <p:nvPr/>
          </p:nvSpPr>
          <p:spPr>
            <a:xfrm>
              <a:off x="155773" y="127597"/>
              <a:ext cx="200188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12-MONTH CONTRACT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2.40% churn</a:t>
              </a:r>
            </a:p>
          </p:txBody>
        </p:sp>
      </p:grpSp>
      <p:grpSp>
        <p:nvGrpSpPr>
          <p:cNvPr id="154" name="Rounded Rectangle 9"/>
          <p:cNvGrpSpPr/>
          <p:nvPr/>
        </p:nvGrpSpPr>
        <p:grpSpPr>
          <a:xfrm>
            <a:off x="8194118" y="5486399"/>
            <a:ext cx="2240281" cy="658370"/>
            <a:chOff x="0" y="0"/>
            <a:chExt cx="2240279" cy="658368"/>
          </a:xfrm>
        </p:grpSpPr>
        <p:sp>
          <p:nvSpPr>
            <p:cNvPr id="152" name="Rounded Rectangle"/>
            <p:cNvSpPr/>
            <p:nvPr/>
          </p:nvSpPr>
          <p:spPr>
            <a:xfrm>
              <a:off x="0" y="0"/>
              <a:ext cx="224028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3" name="LIFETIME…"/>
            <p:cNvSpPr txBox="1"/>
            <p:nvPr/>
          </p:nvSpPr>
          <p:spPr>
            <a:xfrm>
              <a:off x="155773" y="127597"/>
              <a:ext cx="200188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LIFETIME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4.71 vs 0.99 mo</a:t>
              </a:r>
            </a:p>
          </p:txBody>
        </p:sp>
      </p:grpSp>
      <p:sp>
        <p:nvSpPr>
          <p:cNvPr id="155" name="TextBox 10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2"/>
          <p:cNvSpPr txBox="1"/>
          <p:nvPr/>
        </p:nvSpPr>
        <p:spPr>
          <a:xfrm>
            <a:off x="640079" y="219456"/>
            <a:ext cx="175546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03 • EXPLORATORY DATA ANALYSIS</a:t>
            </a:r>
          </a:p>
        </p:txBody>
      </p:sp>
      <p:sp>
        <p:nvSpPr>
          <p:cNvPr id="159" name="TextBox 3"/>
          <p:cNvSpPr txBox="1"/>
          <p:nvPr/>
        </p:nvSpPr>
        <p:spPr>
          <a:xfrm>
            <a:off x="640079" y="530351"/>
            <a:ext cx="511101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EDA: Engagement &amp; Churn Signals</a:t>
            </a:r>
          </a:p>
        </p:txBody>
      </p:sp>
      <p:pic>
        <p:nvPicPr>
          <p:cNvPr id="16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9527" y="1280160"/>
            <a:ext cx="5532121" cy="4297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33576" y="1280160"/>
            <a:ext cx="5532121" cy="429768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4" name="Rounded Rectangle 6"/>
          <p:cNvGrpSpPr/>
          <p:nvPr/>
        </p:nvGrpSpPr>
        <p:grpSpPr>
          <a:xfrm>
            <a:off x="731519" y="5537200"/>
            <a:ext cx="2331722" cy="658369"/>
            <a:chOff x="0" y="0"/>
            <a:chExt cx="2331720" cy="658368"/>
          </a:xfrm>
        </p:grpSpPr>
        <p:sp>
          <p:nvSpPr>
            <p:cNvPr id="162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3" name="RETAINED FREQUENCY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RETAINED FREQUENCY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2.03</a:t>
              </a:r>
            </a:p>
          </p:txBody>
        </p:sp>
      </p:grpSp>
      <p:grpSp>
        <p:nvGrpSpPr>
          <p:cNvPr id="167" name="Rounded Rectangle 7"/>
          <p:cNvGrpSpPr/>
          <p:nvPr/>
        </p:nvGrpSpPr>
        <p:grpSpPr>
          <a:xfrm>
            <a:off x="3246120" y="5549900"/>
            <a:ext cx="2331721" cy="658369"/>
            <a:chOff x="0" y="0"/>
            <a:chExt cx="2331720" cy="658368"/>
          </a:xfrm>
        </p:grpSpPr>
        <p:sp>
          <p:nvSpPr>
            <p:cNvPr id="165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CHURNED FREQUENCY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CHURNED FREQUENCY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1.04</a:t>
              </a:r>
            </a:p>
          </p:txBody>
        </p:sp>
      </p:grpSp>
      <p:grpSp>
        <p:nvGrpSpPr>
          <p:cNvPr id="170" name="Rounded Rectangle 8"/>
          <p:cNvGrpSpPr/>
          <p:nvPr/>
        </p:nvGrpSpPr>
        <p:grpSpPr>
          <a:xfrm>
            <a:off x="6383020" y="5549900"/>
            <a:ext cx="2331721" cy="658369"/>
            <a:chOff x="0" y="0"/>
            <a:chExt cx="2331720" cy="658368"/>
          </a:xfrm>
        </p:grpSpPr>
        <p:sp>
          <p:nvSpPr>
            <p:cNvPr id="168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9" name="NO GROUP VISITS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NO GROUP VISITS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33.01% churn</a:t>
              </a:r>
            </a:p>
          </p:txBody>
        </p:sp>
      </p:grpSp>
      <p:grpSp>
        <p:nvGrpSpPr>
          <p:cNvPr id="173" name="Rounded Rectangle 9"/>
          <p:cNvGrpSpPr/>
          <p:nvPr/>
        </p:nvGrpSpPr>
        <p:grpSpPr>
          <a:xfrm>
            <a:off x="8948419" y="5549900"/>
            <a:ext cx="2331721" cy="658369"/>
            <a:chOff x="0" y="0"/>
            <a:chExt cx="2331720" cy="658368"/>
          </a:xfrm>
        </p:grpSpPr>
        <p:sp>
          <p:nvSpPr>
            <p:cNvPr id="171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GROUP VISITS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GROUP VISITS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17.28% churn</a:t>
              </a:r>
            </a:p>
          </p:txBody>
        </p:sp>
      </p:grpSp>
      <p:sp>
        <p:nvSpPr>
          <p:cNvPr id="174" name="TextBox 10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"/>
          <p:cNvSpPr txBox="1"/>
          <p:nvPr/>
        </p:nvSpPr>
        <p:spPr>
          <a:xfrm>
            <a:off x="640079" y="219456"/>
            <a:ext cx="19364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03–04 • EDA &amp; FEATURE ENGINEERING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640079" y="530351"/>
            <a:ext cx="59600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Correlation &amp; Engineered Activity Trend</a:t>
            </a:r>
          </a:p>
        </p:txBody>
      </p:sp>
      <p:pic>
        <p:nvPicPr>
          <p:cNvPr id="1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1018539"/>
            <a:ext cx="5486401" cy="4480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2200" y="1005839"/>
            <a:ext cx="5486400" cy="448056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3" name="Rounded Rectangle 6"/>
          <p:cNvGrpSpPr/>
          <p:nvPr/>
        </p:nvGrpSpPr>
        <p:grpSpPr>
          <a:xfrm>
            <a:off x="777240" y="5486400"/>
            <a:ext cx="2331721" cy="658369"/>
            <a:chOff x="0" y="0"/>
            <a:chExt cx="2331720" cy="658368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FREQUENCY_CHANGE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FREQUENCY_CHANGE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−0.43 for churned</a:t>
              </a:r>
            </a:p>
          </p:txBody>
        </p:sp>
      </p:grpSp>
      <p:grpSp>
        <p:nvGrpSpPr>
          <p:cNvPr id="186" name="Rounded Rectangle 7"/>
          <p:cNvGrpSpPr/>
          <p:nvPr/>
        </p:nvGrpSpPr>
        <p:grpSpPr>
          <a:xfrm>
            <a:off x="3291840" y="5461597"/>
            <a:ext cx="2331721" cy="771982"/>
            <a:chOff x="0" y="0"/>
            <a:chExt cx="2331720" cy="771981"/>
          </a:xfrm>
        </p:grpSpPr>
        <p:sp>
          <p:nvSpPr>
            <p:cNvPr id="184" name="Rounded Rectangle"/>
            <p:cNvSpPr/>
            <p:nvPr/>
          </p:nvSpPr>
          <p:spPr>
            <a:xfrm>
              <a:off x="0" y="24802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" name="DEFINITION…"/>
            <p:cNvSpPr txBox="1"/>
            <p:nvPr/>
          </p:nvSpPr>
          <p:spPr>
            <a:xfrm>
              <a:off x="155773" y="-1"/>
              <a:ext cx="2093326" cy="7719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DEFINITION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Current − historical</a:t>
              </a:r>
            </a:p>
          </p:txBody>
        </p:sp>
      </p:grpSp>
      <p:grpSp>
        <p:nvGrpSpPr>
          <p:cNvPr id="189" name="Rounded Rectangle 8"/>
          <p:cNvGrpSpPr/>
          <p:nvPr/>
        </p:nvGrpSpPr>
        <p:grpSpPr>
          <a:xfrm>
            <a:off x="5806440" y="5486400"/>
            <a:ext cx="2331721" cy="658369"/>
            <a:chOff x="0" y="0"/>
            <a:chExt cx="2331720" cy="658368"/>
          </a:xfrm>
        </p:grpSpPr>
        <p:sp>
          <p:nvSpPr>
            <p:cNvPr id="187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8" name="INTERPRETATION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INTERPRETATION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Negative = decline</a:t>
              </a:r>
            </a:p>
          </p:txBody>
        </p:sp>
      </p:grpSp>
      <p:grpSp>
        <p:nvGrpSpPr>
          <p:cNvPr id="192" name="Rounded Rectangle 9"/>
          <p:cNvGrpSpPr/>
          <p:nvPr/>
        </p:nvGrpSpPr>
        <p:grpSpPr>
          <a:xfrm>
            <a:off x="8321040" y="5486400"/>
            <a:ext cx="2331721" cy="658369"/>
            <a:chOff x="0" y="0"/>
            <a:chExt cx="2331720" cy="658368"/>
          </a:xfrm>
        </p:grpSpPr>
        <p:sp>
          <p:nvSpPr>
            <p:cNvPr id="190" name="Rounded Rectangle"/>
            <p:cNvSpPr/>
            <p:nvPr/>
          </p:nvSpPr>
          <p:spPr>
            <a:xfrm>
              <a:off x="0" y="0"/>
              <a:ext cx="2331721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1" name="KEY INSIGHT…"/>
            <p:cNvSpPr txBox="1"/>
            <p:nvPr/>
          </p:nvSpPr>
          <p:spPr>
            <a:xfrm>
              <a:off x="155773" y="127597"/>
              <a:ext cx="209332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KEY INSIGHT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Activity matters</a:t>
              </a:r>
            </a:p>
          </p:txBody>
        </p:sp>
      </p:grpSp>
      <p:sp>
        <p:nvSpPr>
          <p:cNvPr id="193" name="TextBox 10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"/>
          <p:cNvSpPr txBox="1"/>
          <p:nvPr/>
        </p:nvSpPr>
        <p:spPr>
          <a:xfrm>
            <a:off x="640079" y="219456"/>
            <a:ext cx="284594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05 • FEATURE SELECTION &amp; DIMENSIONALITY REDUCTION</a:t>
            </a:r>
          </a:p>
        </p:txBody>
      </p:sp>
      <p:sp>
        <p:nvSpPr>
          <p:cNvPr id="197" name="TextBox 3"/>
          <p:cNvSpPr txBox="1"/>
          <p:nvPr/>
        </p:nvSpPr>
        <p:spPr>
          <a:xfrm>
            <a:off x="640079" y="530351"/>
            <a:ext cx="3668476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Feature Selection &amp; PCA</a:t>
            </a:r>
          </a:p>
        </p:txBody>
      </p:sp>
      <p:grpSp>
        <p:nvGrpSpPr>
          <p:cNvPr id="200" name="Rounded Rectangle 4"/>
          <p:cNvGrpSpPr/>
          <p:nvPr/>
        </p:nvGrpSpPr>
        <p:grpSpPr>
          <a:xfrm>
            <a:off x="685800" y="1600200"/>
            <a:ext cx="3246121" cy="1325881"/>
            <a:chOff x="0" y="0"/>
            <a:chExt cx="3246120" cy="1325880"/>
          </a:xfrm>
        </p:grpSpPr>
        <p:sp>
          <p:nvSpPr>
            <p:cNvPr id="198" name="Rounded Rectangle"/>
            <p:cNvSpPr/>
            <p:nvPr/>
          </p:nvSpPr>
          <p:spPr>
            <a:xfrm>
              <a:off x="0" y="0"/>
              <a:ext cx="3246121" cy="13258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9" name="TOP MI FEATURE…"/>
            <p:cNvSpPr txBox="1"/>
            <p:nvPr/>
          </p:nvSpPr>
          <p:spPr>
            <a:xfrm>
              <a:off x="188358" y="376087"/>
              <a:ext cx="2942556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TOP MI FEATURE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frequency_change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MI = 0.3423</a:t>
              </a:r>
            </a:p>
          </p:txBody>
        </p:sp>
      </p:grpSp>
      <p:grpSp>
        <p:nvGrpSpPr>
          <p:cNvPr id="203" name="Rounded Rectangle 5"/>
          <p:cNvGrpSpPr/>
          <p:nvPr/>
        </p:nvGrpSpPr>
        <p:grpSpPr>
          <a:xfrm>
            <a:off x="4160520" y="1600200"/>
            <a:ext cx="3246121" cy="1325881"/>
            <a:chOff x="0" y="0"/>
            <a:chExt cx="3246120" cy="1325880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3246121" cy="13258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SECOND SIGNAL…"/>
            <p:cNvSpPr txBox="1"/>
            <p:nvPr/>
          </p:nvSpPr>
          <p:spPr>
            <a:xfrm>
              <a:off x="188358" y="376087"/>
              <a:ext cx="2942556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SECOND SIGNAL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Lifetime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MI = 0.2087</a:t>
              </a:r>
            </a:p>
          </p:txBody>
        </p:sp>
      </p:grpSp>
      <p:grpSp>
        <p:nvGrpSpPr>
          <p:cNvPr id="206" name="Rounded Rectangle 6"/>
          <p:cNvGrpSpPr/>
          <p:nvPr/>
        </p:nvGrpSpPr>
        <p:grpSpPr>
          <a:xfrm>
            <a:off x="7635240" y="1600200"/>
            <a:ext cx="3246121" cy="1325881"/>
            <a:chOff x="0" y="0"/>
            <a:chExt cx="3246120" cy="1325880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3246121" cy="13258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PCA…"/>
            <p:cNvSpPr txBox="1"/>
            <p:nvPr/>
          </p:nvSpPr>
          <p:spPr>
            <a:xfrm>
              <a:off x="188358" y="376087"/>
              <a:ext cx="2942556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PCA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11 components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96.32% variance retained</a:t>
              </a:r>
            </a:p>
          </p:txBody>
        </p:sp>
      </p:grpSp>
      <p:sp>
        <p:nvSpPr>
          <p:cNvPr id="207" name="TextBox 7"/>
          <p:cNvSpPr txBox="1"/>
          <p:nvPr/>
        </p:nvSpPr>
        <p:spPr>
          <a:xfrm>
            <a:off x="868679" y="3429000"/>
            <a:ext cx="10058402" cy="134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Mutual information identified frequency_change as the strongest feature after engineering.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Standardization was applied before PCA.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Eleven components retained at least 95% variance (96.32%).</a:t>
            </a:r>
          </a:p>
          <a:p>
            <a:pPr>
              <a:spcBef>
                <a:spcPts val="1000"/>
              </a:spcBef>
              <a:defRPr sz="1500">
                <a:solidFill>
                  <a:srgbClr val="F7FAF7"/>
                </a:solidFill>
              </a:defRPr>
            </a:pPr>
            <a:r>
              <a:t>• Mutual information indicates feature relevance, not causation.</a:t>
            </a:r>
          </a:p>
        </p:txBody>
      </p:sp>
      <p:sp>
        <p:nvSpPr>
          <p:cNvPr id="208" name="TextBox 8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2"/>
          <p:cNvSpPr txBox="1"/>
          <p:nvPr/>
        </p:nvSpPr>
        <p:spPr>
          <a:xfrm>
            <a:off x="640079" y="219456"/>
            <a:ext cx="2339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06–07 • MODEL DEVELOPMENT &amp; EVALUATION</a:t>
            </a:r>
          </a:p>
        </p:txBody>
      </p:sp>
      <p:sp>
        <p:nvSpPr>
          <p:cNvPr id="212" name="TextBox 3"/>
          <p:cNvSpPr txBox="1"/>
          <p:nvPr/>
        </p:nvSpPr>
        <p:spPr>
          <a:xfrm>
            <a:off x="640079" y="530351"/>
            <a:ext cx="7298964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Model Development &amp; Performance Comparison</a:t>
            </a:r>
          </a:p>
        </p:txBody>
      </p:sp>
      <p:graphicFrame>
        <p:nvGraphicFramePr>
          <p:cNvPr id="213" name="Table 4"/>
          <p:cNvGraphicFramePr/>
          <p:nvPr/>
        </p:nvGraphicFramePr>
        <p:xfrm>
          <a:off x="594359" y="1508760"/>
          <a:ext cx="10972801" cy="24231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834640"/>
                <a:gridCol w="1554480"/>
                <a:gridCol w="1554480"/>
                <a:gridCol w="1554480"/>
                <a:gridCol w="1554480"/>
                <a:gridCol w="1920240"/>
              </a:tblGrid>
              <a:tr h="60579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7FAF7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7FAF7"/>
                          </a:solidFill>
                        </a:rPr>
                        <a:t>Accuracy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7FAF7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7FAF7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7FAF7"/>
                          </a:solidFill>
                        </a:rPr>
                        <a:t>F1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7FAF7"/>
                          </a:solidFill>
                        </a:rPr>
                        <a:t>ROC-AUC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Logistic Regression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0.9262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0.8844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0.8302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0.8564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0.9775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Decision Tree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0.9462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0.9519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0.8396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0.8922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0.9701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Random Forest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6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0.9650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6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0.9600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6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0.9057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6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0.9320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6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7FAF7"/>
                          </a:solidFill>
                        </a:rPr>
                        <a:t>0.9879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623"/>
                    </a:solidFill>
                  </a:tcPr>
                </a:tc>
              </a:tr>
            </a:tbl>
          </a:graphicData>
        </a:graphic>
      </p:graphicFrame>
      <p:grpSp>
        <p:nvGrpSpPr>
          <p:cNvPr id="216" name="Rounded Rectangle 5"/>
          <p:cNvGrpSpPr/>
          <p:nvPr/>
        </p:nvGrpSpPr>
        <p:grpSpPr>
          <a:xfrm>
            <a:off x="822960" y="4343400"/>
            <a:ext cx="3246121" cy="1143000"/>
            <a:chOff x="0" y="0"/>
            <a:chExt cx="3246120" cy="1143000"/>
          </a:xfrm>
        </p:grpSpPr>
        <p:sp>
          <p:nvSpPr>
            <p:cNvPr id="214" name="Rounded Rectangle"/>
            <p:cNvSpPr/>
            <p:nvPr/>
          </p:nvSpPr>
          <p:spPr>
            <a:xfrm>
              <a:off x="0" y="0"/>
              <a:ext cx="3246121" cy="11430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5" name="SELECTED MODEL…"/>
            <p:cNvSpPr txBox="1"/>
            <p:nvPr/>
          </p:nvSpPr>
          <p:spPr>
            <a:xfrm>
              <a:off x="179431" y="284647"/>
              <a:ext cx="2960410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SELECTED MODEL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RANDOM FOREST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Highest ROC-AUC, recall and F1</a:t>
              </a:r>
            </a:p>
          </p:txBody>
        </p:sp>
      </p:grpSp>
      <p:grpSp>
        <p:nvGrpSpPr>
          <p:cNvPr id="219" name="Rounded Rectangle 6"/>
          <p:cNvGrpSpPr/>
          <p:nvPr/>
        </p:nvGrpSpPr>
        <p:grpSpPr>
          <a:xfrm>
            <a:off x="4297679" y="4343400"/>
            <a:ext cx="3246121" cy="1143000"/>
            <a:chOff x="0" y="0"/>
            <a:chExt cx="3246120" cy="1143000"/>
          </a:xfrm>
        </p:grpSpPr>
        <p:sp>
          <p:nvSpPr>
            <p:cNvPr id="217" name="Rounded Rectangle"/>
            <p:cNvSpPr/>
            <p:nvPr/>
          </p:nvSpPr>
          <p:spPr>
            <a:xfrm>
              <a:off x="0" y="0"/>
              <a:ext cx="3246121" cy="11430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ROC-AUC…"/>
            <p:cNvSpPr txBox="1"/>
            <p:nvPr/>
          </p:nvSpPr>
          <p:spPr>
            <a:xfrm>
              <a:off x="179431" y="284647"/>
              <a:ext cx="2960410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ROC-AUC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0.9879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Test-set performance</a:t>
              </a:r>
            </a:p>
          </p:txBody>
        </p:sp>
      </p:grpSp>
      <p:grpSp>
        <p:nvGrpSpPr>
          <p:cNvPr id="222" name="Rounded Rectangle 7"/>
          <p:cNvGrpSpPr/>
          <p:nvPr/>
        </p:nvGrpSpPr>
        <p:grpSpPr>
          <a:xfrm>
            <a:off x="7772400" y="4343400"/>
            <a:ext cx="3246121" cy="1143000"/>
            <a:chOff x="0" y="0"/>
            <a:chExt cx="3246120" cy="1143000"/>
          </a:xfrm>
        </p:grpSpPr>
        <p:sp>
          <p:nvSpPr>
            <p:cNvPr id="220" name="Rounded Rectangle"/>
            <p:cNvSpPr/>
            <p:nvPr/>
          </p:nvSpPr>
          <p:spPr>
            <a:xfrm>
              <a:off x="0" y="0"/>
              <a:ext cx="3246121" cy="11430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1" name="5-FOLD CV…"/>
            <p:cNvSpPr txBox="1"/>
            <p:nvPr/>
          </p:nvSpPr>
          <p:spPr>
            <a:xfrm>
              <a:off x="179431" y="284647"/>
              <a:ext cx="2960410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5-FOLD CV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0.988 ± 0.0035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Stable across folds</a:t>
              </a:r>
            </a:p>
          </p:txBody>
        </p:sp>
      </p:grpSp>
      <p:sp>
        <p:nvSpPr>
          <p:cNvPr id="223" name="TextBox 8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08</a:t>
            </a:r>
          </a:p>
        </p:txBody>
      </p:sp>
      <p:sp>
        <p:nvSpPr>
          <p:cNvPr id="224" name="80/20 stratified train-test split • Accuracy • Precision •Recall • F1 • ROC-AUC"/>
          <p:cNvSpPr txBox="1"/>
          <p:nvPr/>
        </p:nvSpPr>
        <p:spPr>
          <a:xfrm>
            <a:off x="3148814" y="1109659"/>
            <a:ext cx="524263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80/20 stratified train-test split • Accuracy • Precision •Recall • F1 • ROC-AUC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2"/>
          <p:cNvSpPr txBox="1"/>
          <p:nvPr/>
        </p:nvSpPr>
        <p:spPr>
          <a:xfrm>
            <a:off x="640079" y="219456"/>
            <a:ext cx="131137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07 • MODEL EVALUATION</a:t>
            </a:r>
          </a:p>
        </p:txBody>
      </p:sp>
      <p:sp>
        <p:nvSpPr>
          <p:cNvPr id="228" name="TextBox 3"/>
          <p:cNvSpPr txBox="1"/>
          <p:nvPr/>
        </p:nvSpPr>
        <p:spPr>
          <a:xfrm>
            <a:off x="640079" y="530351"/>
            <a:ext cx="7029833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Random Forest: Confusion Matrix &amp; ROC Curve</a:t>
            </a:r>
          </a:p>
        </p:txBody>
      </p:sp>
      <p:pic>
        <p:nvPicPr>
          <p:cNvPr id="22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1417319"/>
            <a:ext cx="5212080" cy="43891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63640" y="1417319"/>
            <a:ext cx="5212081" cy="4389122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Box 6"/>
          <p:cNvSpPr txBox="1"/>
          <p:nvPr/>
        </p:nvSpPr>
        <p:spPr>
          <a:xfrm>
            <a:off x="914399" y="5623559"/>
            <a:ext cx="10149842" cy="1104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000">
                <a:solidFill>
                  <a:srgbClr val="F7FAF7"/>
                </a:solidFill>
              </a:defRPr>
            </a:pPr>
            <a:r>
              <a:t>• 580 retained members correctly classified; 8 false positives.</a:t>
            </a:r>
          </a:p>
          <a:p>
            <a:pPr>
              <a:spcBef>
                <a:spcPts val="1000"/>
              </a:spcBef>
              <a:defRPr sz="1000">
                <a:solidFill>
                  <a:srgbClr val="F7FAF7"/>
                </a:solidFill>
              </a:defRPr>
            </a:pPr>
            <a:r>
              <a:t>• 192 churned members correctly identified; 20 false negatives.</a:t>
            </a:r>
          </a:p>
          <a:p>
            <a:pPr>
              <a:spcBef>
                <a:spcPts val="1000"/>
              </a:spcBef>
              <a:defRPr sz="1000">
                <a:solidFill>
                  <a:srgbClr val="F7FAF7"/>
                </a:solidFill>
              </a:defRPr>
            </a:pPr>
            <a:r>
              <a:t>• Recall = 0.9057, meaning most churned members in the test set were identified.</a:t>
            </a:r>
          </a:p>
          <a:p>
            <a:pPr>
              <a:spcBef>
                <a:spcPts val="1000"/>
              </a:spcBef>
              <a:defRPr sz="1000">
                <a:solidFill>
                  <a:srgbClr val="F7FAF7"/>
                </a:solidFill>
              </a:defRPr>
            </a:pPr>
            <a:r>
              <a:t>• ROC-AUC = 0.9879, the highest among the three tested models.</a:t>
            </a:r>
          </a:p>
        </p:txBody>
      </p:sp>
      <p:sp>
        <p:nvSpPr>
          <p:cNvPr id="232" name="TextBox 7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2"/>
          <p:cNvSpPr txBox="1"/>
          <p:nvPr/>
        </p:nvSpPr>
        <p:spPr>
          <a:xfrm>
            <a:off x="640079" y="219456"/>
            <a:ext cx="109009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08 • EXPLAINABILITY</a:t>
            </a:r>
          </a:p>
        </p:txBody>
      </p:sp>
      <p:sp>
        <p:nvSpPr>
          <p:cNvPr id="236" name="TextBox 3"/>
          <p:cNvSpPr txBox="1"/>
          <p:nvPr/>
        </p:nvSpPr>
        <p:spPr>
          <a:xfrm>
            <a:off x="640079" y="530351"/>
            <a:ext cx="599272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Explainability: What Signals Churn Risk?</a:t>
            </a:r>
          </a:p>
        </p:txBody>
      </p:sp>
      <p:pic>
        <p:nvPicPr>
          <p:cNvPr id="23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59" y="1201419"/>
            <a:ext cx="5486401" cy="4206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48400" y="1173479"/>
            <a:ext cx="5349241" cy="42062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1" name="Rounded Rectangle 6"/>
          <p:cNvGrpSpPr/>
          <p:nvPr/>
        </p:nvGrpSpPr>
        <p:grpSpPr>
          <a:xfrm>
            <a:off x="777240" y="5507317"/>
            <a:ext cx="2514601" cy="771982"/>
            <a:chOff x="0" y="0"/>
            <a:chExt cx="2514600" cy="771981"/>
          </a:xfrm>
        </p:grpSpPr>
        <p:sp>
          <p:nvSpPr>
            <p:cNvPr id="239" name="Rounded Rectangle"/>
            <p:cNvSpPr/>
            <p:nvPr/>
          </p:nvSpPr>
          <p:spPr>
            <a:xfrm>
              <a:off x="0" y="24802"/>
              <a:ext cx="251460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0" name="FEATURE IMPORTANCE…"/>
            <p:cNvSpPr txBox="1"/>
            <p:nvPr/>
          </p:nvSpPr>
          <p:spPr>
            <a:xfrm>
              <a:off x="155773" y="-1"/>
              <a:ext cx="2276206" cy="7719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FEATURE IMPORTANCE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frequency_change #1</a:t>
              </a:r>
            </a:p>
          </p:txBody>
        </p:sp>
      </p:grpSp>
      <p:grpSp>
        <p:nvGrpSpPr>
          <p:cNvPr id="244" name="Rounded Rectangle 7"/>
          <p:cNvGrpSpPr/>
          <p:nvPr/>
        </p:nvGrpSpPr>
        <p:grpSpPr>
          <a:xfrm>
            <a:off x="3474720" y="5532120"/>
            <a:ext cx="2514601" cy="658369"/>
            <a:chOff x="0" y="0"/>
            <a:chExt cx="2514600" cy="658368"/>
          </a:xfrm>
        </p:grpSpPr>
        <p:sp>
          <p:nvSpPr>
            <p:cNvPr id="242" name="Rounded Rectangle"/>
            <p:cNvSpPr/>
            <p:nvPr/>
          </p:nvSpPr>
          <p:spPr>
            <a:xfrm>
              <a:off x="0" y="0"/>
              <a:ext cx="251460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3" name="PERMUTATION IMPORTANCE…"/>
            <p:cNvSpPr txBox="1"/>
            <p:nvPr/>
          </p:nvSpPr>
          <p:spPr>
            <a:xfrm>
              <a:off x="155773" y="127597"/>
              <a:ext cx="227620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PERMUTATION IMPORTANCE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0.1138</a:t>
              </a:r>
            </a:p>
          </p:txBody>
        </p:sp>
      </p:grpSp>
      <p:grpSp>
        <p:nvGrpSpPr>
          <p:cNvPr id="247" name="Rounded Rectangle 8"/>
          <p:cNvGrpSpPr/>
          <p:nvPr/>
        </p:nvGrpSpPr>
        <p:grpSpPr>
          <a:xfrm>
            <a:off x="6172200" y="5532120"/>
            <a:ext cx="2514600" cy="658369"/>
            <a:chOff x="0" y="0"/>
            <a:chExt cx="2514600" cy="658368"/>
          </a:xfrm>
        </p:grpSpPr>
        <p:sp>
          <p:nvSpPr>
            <p:cNvPr id="245" name="Rounded Rectangle"/>
            <p:cNvSpPr/>
            <p:nvPr/>
          </p:nvSpPr>
          <p:spPr>
            <a:xfrm>
              <a:off x="0" y="0"/>
              <a:ext cx="2514600" cy="658369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6" name="LIFETIME PERMUTATION…"/>
            <p:cNvSpPr txBox="1"/>
            <p:nvPr/>
          </p:nvSpPr>
          <p:spPr>
            <a:xfrm>
              <a:off x="155773" y="127597"/>
              <a:ext cx="2276206" cy="467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LIFETIME PERMUTATION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0.0385</a:t>
              </a:r>
            </a:p>
          </p:txBody>
        </p:sp>
      </p:grpSp>
      <p:grpSp>
        <p:nvGrpSpPr>
          <p:cNvPr id="250" name="Rounded Rectangle 9"/>
          <p:cNvGrpSpPr/>
          <p:nvPr/>
        </p:nvGrpSpPr>
        <p:grpSpPr>
          <a:xfrm>
            <a:off x="8778239" y="5216708"/>
            <a:ext cx="3050109" cy="1353201"/>
            <a:chOff x="0" y="-191522"/>
            <a:chExt cx="3050107" cy="1353199"/>
          </a:xfrm>
        </p:grpSpPr>
        <p:sp>
          <p:nvSpPr>
            <p:cNvPr id="248" name="Rounded Rectangle"/>
            <p:cNvSpPr/>
            <p:nvPr/>
          </p:nvSpPr>
          <p:spPr>
            <a:xfrm>
              <a:off x="0" y="31169"/>
              <a:ext cx="2700465" cy="827378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9" name="PDP FINDING…"/>
            <p:cNvSpPr txBox="1"/>
            <p:nvPr/>
          </p:nvSpPr>
          <p:spPr>
            <a:xfrm>
              <a:off x="179801" y="-191523"/>
              <a:ext cx="2870307" cy="135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PDP FINDING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Higher churn risk when activity decline is strong</a:t>
              </a:r>
            </a:p>
          </p:txBody>
        </p:sp>
      </p:grpSp>
      <p:sp>
        <p:nvSpPr>
          <p:cNvPr id="251" name="TextBox 10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2"/>
          <p:cNvSpPr txBox="1"/>
          <p:nvPr/>
        </p:nvSpPr>
        <p:spPr>
          <a:xfrm>
            <a:off x="640079" y="219456"/>
            <a:ext cx="250131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09 • CRITICAL THINKING, ETHICAL AI &amp; BIAS AUDIT</a:t>
            </a:r>
          </a:p>
        </p:txBody>
      </p:sp>
      <p:sp>
        <p:nvSpPr>
          <p:cNvPr id="255" name="TextBox 3"/>
          <p:cNvSpPr txBox="1"/>
          <p:nvPr/>
        </p:nvSpPr>
        <p:spPr>
          <a:xfrm>
            <a:off x="640079" y="530351"/>
            <a:ext cx="4653668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Bias, Fairness &amp; Responsible AI</a:t>
            </a:r>
          </a:p>
        </p:txBody>
      </p:sp>
      <p:sp>
        <p:nvSpPr>
          <p:cNvPr id="256" name="TextBox 4"/>
          <p:cNvSpPr txBox="1"/>
          <p:nvPr/>
        </p:nvSpPr>
        <p:spPr>
          <a:xfrm>
            <a:off x="685800" y="1463040"/>
            <a:ext cx="6583679" cy="26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Observed churn rates were very similar in the dataset.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Model performance was not identical across age groups, so group-level monitoring is required.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The 35–41 test group contained only 36 members; its 0.0000 recall is therefore unstable and should not be over-interpreted.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Predicted churn rates also differed by age group, so prediction-rate differences should be investigated rather than treated as proof of unfairness.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Use the model as decision support—not the sole basis for decisions about individual members.</a:t>
            </a:r>
          </a:p>
        </p:txBody>
      </p:sp>
      <p:graphicFrame>
        <p:nvGraphicFramePr>
          <p:cNvPr id="257" name="Table 5"/>
          <p:cNvGraphicFramePr/>
          <p:nvPr/>
        </p:nvGraphicFramePr>
        <p:xfrm>
          <a:off x="7498078" y="1828800"/>
          <a:ext cx="3840481" cy="27432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7FAF7"/>
                          </a:solidFill>
                        </a:rPr>
                        <a:t>Age group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7FAF7"/>
                          </a:solidFill>
                        </a:rPr>
                        <a:t>Members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7FAF7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7FAF7"/>
                          </a:solidFill>
                        </a:rPr>
                        <a:t>Pred. churn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C41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18–24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59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1.0000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67.80%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25–29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377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0.9385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33.69%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30–34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328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0.7143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10.06%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35–41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36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0.0000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F7FAF7"/>
                          </a:solidFill>
                        </a:rPr>
                        <a:t>0.00%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21D17"/>
                    </a:solidFill>
                  </a:tcPr>
                </a:tc>
              </a:tr>
            </a:tbl>
          </a:graphicData>
        </a:graphic>
      </p:graphicFrame>
      <p:grpSp>
        <p:nvGrpSpPr>
          <p:cNvPr id="260" name="Rounded Rectangle 6"/>
          <p:cNvGrpSpPr/>
          <p:nvPr/>
        </p:nvGrpSpPr>
        <p:grpSpPr>
          <a:xfrm>
            <a:off x="7566658" y="4892040"/>
            <a:ext cx="3703321" cy="1051561"/>
            <a:chOff x="0" y="0"/>
            <a:chExt cx="3703320" cy="1051560"/>
          </a:xfrm>
        </p:grpSpPr>
        <p:sp>
          <p:nvSpPr>
            <p:cNvPr id="258" name="Rounded Rectangle"/>
            <p:cNvSpPr/>
            <p:nvPr/>
          </p:nvSpPr>
          <p:spPr>
            <a:xfrm>
              <a:off x="0" y="0"/>
              <a:ext cx="3703321" cy="105156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9" name="RESPONSIBLE USE…"/>
            <p:cNvSpPr txBox="1"/>
            <p:nvPr/>
          </p:nvSpPr>
          <p:spPr>
            <a:xfrm>
              <a:off x="174967" y="238927"/>
              <a:ext cx="342653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RESPONSIBLE USE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HUMAN OVERSIGHT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Monitor group performance • Review thresholds • Human oversight</a:t>
              </a:r>
            </a:p>
          </p:txBody>
        </p:sp>
      </p:grpSp>
      <p:sp>
        <p:nvSpPr>
          <p:cNvPr id="261" name="TextBox 7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2"/>
          <p:cNvSpPr txBox="1"/>
          <p:nvPr/>
        </p:nvSpPr>
        <p:spPr>
          <a:xfrm>
            <a:off x="640079" y="219456"/>
            <a:ext cx="282116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10 • CONCLUSION &amp; FUTURE HEALTHLETICS APPLICATION</a:t>
            </a:r>
          </a:p>
        </p:txBody>
      </p:sp>
      <p:sp>
        <p:nvSpPr>
          <p:cNvPr id="265" name="TextBox 3"/>
          <p:cNvSpPr txBox="1"/>
          <p:nvPr/>
        </p:nvSpPr>
        <p:spPr>
          <a:xfrm>
            <a:off x="640079" y="530351"/>
            <a:ext cx="5737658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From Prediction to Member Retention</a:t>
            </a:r>
          </a:p>
        </p:txBody>
      </p:sp>
      <p:grpSp>
        <p:nvGrpSpPr>
          <p:cNvPr id="268" name="Rounded Rectangle 4"/>
          <p:cNvGrpSpPr/>
          <p:nvPr/>
        </p:nvGrpSpPr>
        <p:grpSpPr>
          <a:xfrm>
            <a:off x="685800" y="1600200"/>
            <a:ext cx="3246121" cy="1325881"/>
            <a:chOff x="0" y="0"/>
            <a:chExt cx="3246120" cy="1325880"/>
          </a:xfrm>
        </p:grpSpPr>
        <p:sp>
          <p:nvSpPr>
            <p:cNvPr id="266" name="Rounded Rectangle"/>
            <p:cNvSpPr/>
            <p:nvPr/>
          </p:nvSpPr>
          <p:spPr>
            <a:xfrm>
              <a:off x="0" y="0"/>
              <a:ext cx="3246121" cy="13258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7" name="BEST MODEL…"/>
            <p:cNvSpPr txBox="1"/>
            <p:nvPr/>
          </p:nvSpPr>
          <p:spPr>
            <a:xfrm>
              <a:off x="188358" y="376087"/>
              <a:ext cx="2942556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BEST MODEL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RANDOM FOREST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ROC-AUC 0.9879</a:t>
              </a:r>
            </a:p>
          </p:txBody>
        </p:sp>
      </p:grpSp>
      <p:grpSp>
        <p:nvGrpSpPr>
          <p:cNvPr id="271" name="Rounded Rectangle 5"/>
          <p:cNvGrpSpPr/>
          <p:nvPr/>
        </p:nvGrpSpPr>
        <p:grpSpPr>
          <a:xfrm>
            <a:off x="4206240" y="1600200"/>
            <a:ext cx="3246121" cy="1325881"/>
            <a:chOff x="0" y="0"/>
            <a:chExt cx="3246120" cy="1325880"/>
          </a:xfrm>
        </p:grpSpPr>
        <p:sp>
          <p:nvSpPr>
            <p:cNvPr id="269" name="Rounded Rectangle"/>
            <p:cNvSpPr/>
            <p:nvPr/>
          </p:nvSpPr>
          <p:spPr>
            <a:xfrm>
              <a:off x="0" y="0"/>
              <a:ext cx="3246121" cy="13258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0" name="RECALL…"/>
            <p:cNvSpPr txBox="1"/>
            <p:nvPr/>
          </p:nvSpPr>
          <p:spPr>
            <a:xfrm>
              <a:off x="188358" y="376087"/>
              <a:ext cx="2942556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RECALL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0.9057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Strong churn identification</a:t>
              </a:r>
            </a:p>
          </p:txBody>
        </p:sp>
      </p:grpSp>
      <p:grpSp>
        <p:nvGrpSpPr>
          <p:cNvPr id="274" name="Rounded Rectangle 6"/>
          <p:cNvGrpSpPr/>
          <p:nvPr/>
        </p:nvGrpSpPr>
        <p:grpSpPr>
          <a:xfrm>
            <a:off x="7726678" y="1600200"/>
            <a:ext cx="3246121" cy="1325881"/>
            <a:chOff x="0" y="0"/>
            <a:chExt cx="3246120" cy="1325880"/>
          </a:xfrm>
        </p:grpSpPr>
        <p:sp>
          <p:nvSpPr>
            <p:cNvPr id="272" name="Rounded Rectangle"/>
            <p:cNvSpPr/>
            <p:nvPr/>
          </p:nvSpPr>
          <p:spPr>
            <a:xfrm>
              <a:off x="0" y="0"/>
              <a:ext cx="3246121" cy="13258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3" name="KEY SIGNAL…"/>
            <p:cNvSpPr txBox="1"/>
            <p:nvPr/>
          </p:nvSpPr>
          <p:spPr>
            <a:xfrm>
              <a:off x="188358" y="376087"/>
              <a:ext cx="2942556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KEY SIGNAL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frequency_change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Recent activity decline</a:t>
              </a:r>
            </a:p>
          </p:txBody>
        </p:sp>
      </p:grpSp>
      <p:sp>
        <p:nvSpPr>
          <p:cNvPr id="275" name="TextBox 7"/>
          <p:cNvSpPr txBox="1"/>
          <p:nvPr/>
        </p:nvSpPr>
        <p:spPr>
          <a:xfrm>
            <a:off x="868679" y="3429000"/>
            <a:ext cx="10149842" cy="17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Random Forest provided the strongest overall test-set performance among the evaluated candidates.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Recent changes in class frequency were the strongest predictive signal in the model.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The project is a proof of concept based on a public gym dataset, not a production deployment.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Before practical use, retrain and validate with appropriately collected and anonymized Healthletics data.</a:t>
            </a:r>
          </a:p>
          <a:p>
            <a:pPr>
              <a:spcBef>
                <a:spcPts val="1000"/>
              </a:spcBef>
              <a:defRPr sz="1400">
                <a:solidFill>
                  <a:srgbClr val="F7FAF7"/>
                </a:solidFill>
              </a:defRPr>
            </a:pPr>
            <a:r>
              <a:t>• Future vision: integrate churn-risk insights into a Healthletics member management and analytics system.</a:t>
            </a:r>
          </a:p>
        </p:txBody>
      </p:sp>
      <p:grpSp>
        <p:nvGrpSpPr>
          <p:cNvPr id="278" name="Rounded Rectangle 8"/>
          <p:cNvGrpSpPr/>
          <p:nvPr/>
        </p:nvGrpSpPr>
        <p:grpSpPr>
          <a:xfrm>
            <a:off x="1828800" y="5715000"/>
            <a:ext cx="8458200" cy="594360"/>
            <a:chOff x="0" y="0"/>
            <a:chExt cx="8458200" cy="594359"/>
          </a:xfrm>
        </p:grpSpPr>
        <p:sp>
          <p:nvSpPr>
            <p:cNvPr id="276" name="Rounded Rectangle"/>
            <p:cNvSpPr/>
            <p:nvPr/>
          </p:nvSpPr>
          <p:spPr>
            <a:xfrm>
              <a:off x="0" y="0"/>
              <a:ext cx="8458200" cy="594360"/>
            </a:xfrm>
            <a:prstGeom prst="roundRect">
              <a:avLst>
                <a:gd name="adj" fmla="val 16667"/>
              </a:avLst>
            </a:prstGeom>
            <a:solidFill>
              <a:srgbClr val="0C4123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7" name="PREDICT EARLIER  •  ENGAGE BETTER  •  RETAIN STRONGER"/>
            <p:cNvSpPr txBox="1"/>
            <p:nvPr/>
          </p:nvSpPr>
          <p:spPr>
            <a:xfrm>
              <a:off x="79496" y="158181"/>
              <a:ext cx="8299208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F7FAF7"/>
                  </a:solidFill>
                </a:defRPr>
              </a:lvl1pPr>
            </a:lstStyle>
            <a:p>
              <a:pPr/>
              <a:r>
                <a:t>PREDICT EARLIER  •  ENGAGE BETTER  •  RETAIN STRONGER</a:t>
              </a:r>
            </a:p>
          </p:txBody>
        </p:sp>
      </p:grpSp>
      <p:sp>
        <p:nvSpPr>
          <p:cNvPr id="279" name="TextBox 9"/>
          <p:cNvSpPr txBox="1"/>
          <p:nvPr/>
        </p:nvSpPr>
        <p:spPr>
          <a:xfrm>
            <a:off x="9520435" y="6446520"/>
            <a:ext cx="200100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TECHNICAL CAPSTONE  | 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