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52152" y="0"/>
            <a:ext cx="12191696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Rectangle 2"/>
          <p:cNvSpPr/>
          <p:nvPr/>
        </p:nvSpPr>
        <p:spPr>
          <a:xfrm>
            <a:off x="-1" y="0"/>
            <a:ext cx="5030003" cy="6858000"/>
          </a:xfrm>
          <a:prstGeom prst="rect">
            <a:avLst/>
          </a:prstGeom>
          <a:solidFill>
            <a:srgbClr val="090F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BE3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" name="TextBox 5"/>
          <p:cNvSpPr txBox="1"/>
          <p:nvPr/>
        </p:nvSpPr>
        <p:spPr>
          <a:xfrm>
            <a:off x="564942" y="927583"/>
            <a:ext cx="3593230" cy="340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3100">
                <a:solidFill>
                  <a:srgbClr val="F7FAF7"/>
                </a:solidFill>
              </a:defRPr>
            </a:pPr>
            <a:r>
              <a:t>HEALTHLETICS:</a:t>
            </a:r>
          </a:p>
          <a:p>
            <a:pPr>
              <a:defRPr b="1" sz="3100">
                <a:solidFill>
                  <a:srgbClr val="F7FAF7"/>
                </a:solidFill>
              </a:defRPr>
            </a:pPr>
            <a:r>
              <a:t>AI-POWERED</a:t>
            </a:r>
          </a:p>
          <a:p>
            <a:pPr>
              <a:defRPr b="1" sz="3100">
                <a:solidFill>
                  <a:srgbClr val="F7FAF7"/>
                </a:solidFill>
              </a:defRPr>
            </a:pPr>
            <a:r>
              <a:t>MEMBER RETENTION</a:t>
            </a:r>
          </a:p>
          <a:p>
            <a:pPr>
              <a:defRPr b="1" sz="1700">
                <a:solidFill>
                  <a:srgbClr val="4ABE34"/>
                </a:solidFill>
              </a:defRPr>
            </a:pPr>
          </a:p>
          <a:p>
            <a:pPr>
              <a:defRPr b="1" sz="1700">
                <a:solidFill>
                  <a:srgbClr val="4ABE34"/>
                </a:solidFill>
              </a:defRPr>
            </a:pPr>
            <a:r>
              <a:t>BUSINESS CAPSTONE PRESENTATION</a:t>
            </a:r>
          </a:p>
          <a:p>
            <a:pPr>
              <a:defRPr b="1" sz="1400">
                <a:solidFill>
                  <a:srgbClr val="F7FAF7"/>
                </a:solidFill>
              </a:defRPr>
            </a:pPr>
            <a:r>
              <a:t>Lynette T. Suller </a:t>
            </a:r>
          </a:p>
          <a:p>
            <a:pPr>
              <a:defRPr b="1" sz="1400">
                <a:solidFill>
                  <a:srgbClr val="F7FAF7"/>
                </a:solidFill>
              </a:defRPr>
            </a:pPr>
            <a:r>
              <a:t>PGD AI &amp; Machine Learning</a:t>
            </a:r>
          </a:p>
          <a:p>
            <a:pPr>
              <a:defRPr b="1" sz="1400">
                <a:solidFill>
                  <a:srgbClr val="F7FAF7"/>
                </a:solidFill>
              </a:defRPr>
            </a:pPr>
          </a:p>
          <a:p>
            <a:pPr>
              <a:defRPr i="1" sz="1400">
                <a:solidFill>
                  <a:srgbClr val="F7FAF7"/>
                </a:solidFill>
              </a:defRPr>
            </a:pPr>
          </a:p>
          <a:p>
            <a:pPr>
              <a:defRPr i="1" sz="1400">
                <a:solidFill>
                  <a:srgbClr val="F7FAF7"/>
                </a:solidFill>
              </a:defRPr>
            </a:pPr>
            <a:r>
              <a:t>Using member data to identify churn risk and </a:t>
            </a:r>
          </a:p>
          <a:p>
            <a:pPr>
              <a:defRPr i="1" sz="1400">
                <a:solidFill>
                  <a:srgbClr val="F7FAF7"/>
                </a:solidFill>
              </a:defRPr>
            </a:pPr>
            <a:r>
              <a:t>support proactive retention.</a:t>
            </a:r>
          </a:p>
        </p:txBody>
      </p:sp>
      <p:grpSp>
        <p:nvGrpSpPr>
          <p:cNvPr id="100" name="Rounded Rectangle 6"/>
          <p:cNvGrpSpPr/>
          <p:nvPr/>
        </p:nvGrpSpPr>
        <p:grpSpPr>
          <a:xfrm>
            <a:off x="238362" y="4926798"/>
            <a:ext cx="4246390" cy="480027"/>
            <a:chOff x="0" y="0"/>
            <a:chExt cx="4246388" cy="480026"/>
          </a:xfrm>
        </p:grpSpPr>
        <p:sp>
          <p:nvSpPr>
            <p:cNvPr id="98" name="Rounded Rectangle"/>
            <p:cNvSpPr/>
            <p:nvPr/>
          </p:nvSpPr>
          <p:spPr>
            <a:xfrm>
              <a:off x="0" y="0"/>
              <a:ext cx="4246389" cy="480027"/>
            </a:xfrm>
            <a:prstGeom prst="roundRect">
              <a:avLst>
                <a:gd name="adj" fmla="val 16667"/>
              </a:avLst>
            </a:prstGeom>
            <a:solidFill>
              <a:srgbClr val="0C4123"/>
            </a:solidFill>
            <a:ln w="9525" cap="flat">
              <a:solidFill>
                <a:srgbClr val="4ABE34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9" name="PREDICT EARLIER  •  ENGAGE BETTER  •  RETAIN STRONGER"/>
            <p:cNvSpPr txBox="1"/>
            <p:nvPr/>
          </p:nvSpPr>
          <p:spPr>
            <a:xfrm>
              <a:off x="64204" y="147736"/>
              <a:ext cx="4117981" cy="1845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b="1" sz="1000">
                  <a:solidFill>
                    <a:srgbClr val="F7FAF7"/>
                  </a:solidFill>
                </a:defRPr>
              </a:lvl1pPr>
            </a:lstStyle>
            <a:p>
              <a:pPr/>
              <a:r>
                <a:t>PREDICT EARLIER  •  ENGAGE BETTER  •  RETAIN STRONGER</a:t>
              </a:r>
            </a:p>
          </p:txBody>
        </p:sp>
      </p:grpSp>
      <p:sp>
        <p:nvSpPr>
          <p:cNvPr id="101" name="TextBox 7"/>
          <p:cNvSpPr txBox="1"/>
          <p:nvPr/>
        </p:nvSpPr>
        <p:spPr>
          <a:xfrm>
            <a:off x="9582398" y="6446520"/>
            <a:ext cx="1939043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800">
                <a:solidFill>
                  <a:srgbClr val="B5C3BB"/>
                </a:solidFill>
              </a:defRPr>
            </a:lvl1pPr>
          </a:lstStyle>
          <a:p>
            <a:pPr/>
            <a:r>
              <a:t>HEALTHLETICS  •  BUSINESS CAPSTONE  |  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9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-1" y="-1"/>
            <a:ext cx="12191697" cy="68582"/>
          </a:xfrm>
          <a:prstGeom prst="rect">
            <a:avLst/>
          </a:prstGeom>
          <a:solidFill>
            <a:srgbClr val="4ABE3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TextBox 2"/>
          <p:cNvSpPr txBox="1"/>
          <p:nvPr/>
        </p:nvSpPr>
        <p:spPr>
          <a:xfrm>
            <a:off x="640079" y="219456"/>
            <a:ext cx="171835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900">
                <a:solidFill>
                  <a:srgbClr val="4ABE34"/>
                </a:solidFill>
              </a:defRPr>
            </a:lvl1pPr>
          </a:lstStyle>
          <a:p>
            <a:pPr/>
            <a:r>
              <a:t>01 • THE BUSINESS OPPORTUNITY</a:t>
            </a:r>
          </a:p>
        </p:txBody>
      </p:sp>
      <p:sp>
        <p:nvSpPr>
          <p:cNvPr id="105" name="TextBox 3"/>
          <p:cNvSpPr txBox="1"/>
          <p:nvPr/>
        </p:nvSpPr>
        <p:spPr>
          <a:xfrm>
            <a:off x="640079" y="530351"/>
            <a:ext cx="4909430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F7FAF7"/>
                </a:solidFill>
              </a:defRPr>
            </a:lvl1pPr>
          </a:lstStyle>
          <a:p>
            <a:pPr/>
            <a:r>
              <a:t>Why Member Retention Matters</a:t>
            </a:r>
          </a:p>
        </p:txBody>
      </p:sp>
      <p:sp>
        <p:nvSpPr>
          <p:cNvPr id="106" name="TextBox 4"/>
          <p:cNvSpPr txBox="1"/>
          <p:nvPr/>
        </p:nvSpPr>
        <p:spPr>
          <a:xfrm>
            <a:off x="777240" y="1600200"/>
            <a:ext cx="6675120" cy="2281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F7FAF7"/>
                </a:solidFill>
              </a:defRPr>
            </a:pPr>
            <a:r>
              <a:t>• Member churn reduces recurring membership value and makes growth more dependent on replacing lost members.</a:t>
            </a:r>
          </a:p>
          <a:p>
            <a:pPr>
              <a:spcBef>
                <a:spcPts val="1200"/>
              </a:spcBef>
              <a:defRPr sz="1600">
                <a:solidFill>
                  <a:srgbClr val="F7FAF7"/>
                </a:solidFill>
              </a:defRPr>
            </a:pPr>
            <a:r>
              <a:t>• Healthletics needs an earlier signal that a member may be disengaging.</a:t>
            </a:r>
          </a:p>
          <a:p>
            <a:pPr>
              <a:spcBef>
                <a:spcPts val="1200"/>
              </a:spcBef>
              <a:defRPr sz="1600">
                <a:solidFill>
                  <a:srgbClr val="F7FAF7"/>
                </a:solidFill>
              </a:defRPr>
            </a:pPr>
            <a:r>
              <a:t>• The project asks a practical business question: who may need a timely retention support?</a:t>
            </a:r>
          </a:p>
          <a:p>
            <a:pPr>
              <a:spcBef>
                <a:spcPts val="1200"/>
              </a:spcBef>
              <a:defRPr sz="1600">
                <a:solidFill>
                  <a:srgbClr val="F7FAF7"/>
                </a:solidFill>
              </a:defRPr>
            </a:pPr>
            <a:r>
              <a:t>• Machine learning can turn member activity patterns into an actionable risk signal.</a:t>
            </a:r>
          </a:p>
        </p:txBody>
      </p:sp>
      <p:grpSp>
        <p:nvGrpSpPr>
          <p:cNvPr id="109" name="Rounded Rectangle 5"/>
          <p:cNvGrpSpPr/>
          <p:nvPr/>
        </p:nvGrpSpPr>
        <p:grpSpPr>
          <a:xfrm>
            <a:off x="7863840" y="1691639"/>
            <a:ext cx="3200401" cy="1234441"/>
            <a:chOff x="0" y="0"/>
            <a:chExt cx="3200400" cy="1234439"/>
          </a:xfrm>
        </p:grpSpPr>
        <p:sp>
          <p:nvSpPr>
            <p:cNvPr id="107" name="Rounded Rectangle"/>
            <p:cNvSpPr/>
            <p:nvPr/>
          </p:nvSpPr>
          <p:spPr>
            <a:xfrm>
              <a:off x="0" y="0"/>
              <a:ext cx="3200400" cy="1234440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8" name="DATASET CHURNED…"/>
            <p:cNvSpPr txBox="1"/>
            <p:nvPr/>
          </p:nvSpPr>
          <p:spPr>
            <a:xfrm>
              <a:off x="183894" y="330367"/>
              <a:ext cx="2905764" cy="637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DATASET CHURNED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E25E55"/>
                  </a:solidFill>
                </a:defRPr>
              </a:pPr>
              <a:r>
                <a:t>26.53%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t>Public proof-of-concept dataset</a:t>
              </a:r>
            </a:p>
          </p:txBody>
        </p:sp>
      </p:grpSp>
      <p:grpSp>
        <p:nvGrpSpPr>
          <p:cNvPr id="112" name="Rounded Rectangle 6"/>
          <p:cNvGrpSpPr/>
          <p:nvPr/>
        </p:nvGrpSpPr>
        <p:grpSpPr>
          <a:xfrm>
            <a:off x="7863840" y="3154679"/>
            <a:ext cx="3200401" cy="1234441"/>
            <a:chOff x="0" y="0"/>
            <a:chExt cx="3200400" cy="1234439"/>
          </a:xfrm>
        </p:grpSpPr>
        <p:sp>
          <p:nvSpPr>
            <p:cNvPr id="110" name="Rounded Rectangle"/>
            <p:cNvSpPr/>
            <p:nvPr/>
          </p:nvSpPr>
          <p:spPr>
            <a:xfrm>
              <a:off x="0" y="0"/>
              <a:ext cx="3200400" cy="1234440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1" name="RETAINED…"/>
            <p:cNvSpPr txBox="1"/>
            <p:nvPr/>
          </p:nvSpPr>
          <p:spPr>
            <a:xfrm>
              <a:off x="183894" y="330367"/>
              <a:ext cx="2905764" cy="637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RETAINED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73.48%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t>Public proof-of-concept dataset</a:t>
              </a:r>
            </a:p>
          </p:txBody>
        </p:sp>
      </p:grpSp>
      <p:grpSp>
        <p:nvGrpSpPr>
          <p:cNvPr id="115" name="Rounded Rectangle 7"/>
          <p:cNvGrpSpPr/>
          <p:nvPr/>
        </p:nvGrpSpPr>
        <p:grpSpPr>
          <a:xfrm>
            <a:off x="7863840" y="4617720"/>
            <a:ext cx="3200401" cy="1234441"/>
            <a:chOff x="0" y="0"/>
            <a:chExt cx="3200400" cy="1234439"/>
          </a:xfrm>
        </p:grpSpPr>
        <p:sp>
          <p:nvSpPr>
            <p:cNvPr id="113" name="Rounded Rectangle"/>
            <p:cNvSpPr/>
            <p:nvPr/>
          </p:nvSpPr>
          <p:spPr>
            <a:xfrm>
              <a:off x="0" y="0"/>
              <a:ext cx="3200400" cy="1234440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4" name="BUSINESS GOAL…"/>
            <p:cNvSpPr txBox="1"/>
            <p:nvPr/>
          </p:nvSpPr>
          <p:spPr>
            <a:xfrm>
              <a:off x="183894" y="330367"/>
              <a:ext cx="2905764" cy="637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BUSINESS GOAL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EARLIER ACTION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t>Support member retention</a:t>
              </a:r>
            </a:p>
          </p:txBody>
        </p:sp>
      </p:grpSp>
      <p:sp>
        <p:nvSpPr>
          <p:cNvPr id="116" name="TextBox 8"/>
          <p:cNvSpPr txBox="1"/>
          <p:nvPr/>
        </p:nvSpPr>
        <p:spPr>
          <a:xfrm>
            <a:off x="9582398" y="6446520"/>
            <a:ext cx="1939043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800">
                <a:solidFill>
                  <a:srgbClr val="B5C3BB"/>
                </a:solidFill>
              </a:defRPr>
            </a:lvl1pPr>
          </a:lstStyle>
          <a:p>
            <a:pPr/>
            <a:r>
              <a:t>HEALTHLETICS  •  BUSINESS CAPSTONE  |  02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9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-1" y="-1"/>
            <a:ext cx="12191697" cy="68582"/>
          </a:xfrm>
          <a:prstGeom prst="rect">
            <a:avLst/>
          </a:prstGeom>
          <a:solidFill>
            <a:srgbClr val="4ABE3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TextBox 2"/>
          <p:cNvSpPr txBox="1"/>
          <p:nvPr/>
        </p:nvSpPr>
        <p:spPr>
          <a:xfrm>
            <a:off x="640079" y="219456"/>
            <a:ext cx="1682408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900">
                <a:solidFill>
                  <a:srgbClr val="4ABE34"/>
                </a:solidFill>
              </a:defRPr>
            </a:lvl1pPr>
          </a:lstStyle>
          <a:p>
            <a:pPr/>
            <a:r>
              <a:t>02 • WHAT THE ANALYSIS FOUND</a:t>
            </a:r>
          </a:p>
        </p:txBody>
      </p:sp>
      <p:sp>
        <p:nvSpPr>
          <p:cNvPr id="120" name="TextBox 3"/>
          <p:cNvSpPr txBox="1"/>
          <p:nvPr/>
        </p:nvSpPr>
        <p:spPr>
          <a:xfrm>
            <a:off x="640079" y="530351"/>
            <a:ext cx="458404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F7FAF7"/>
                </a:solidFill>
              </a:defRPr>
            </a:lvl1pPr>
          </a:lstStyle>
          <a:p>
            <a:pPr/>
            <a:r>
              <a:t>The Strongest Business Signals</a:t>
            </a:r>
          </a:p>
        </p:txBody>
      </p:sp>
      <p:grpSp>
        <p:nvGrpSpPr>
          <p:cNvPr id="123" name="Rounded Rectangle 4"/>
          <p:cNvGrpSpPr/>
          <p:nvPr/>
        </p:nvGrpSpPr>
        <p:grpSpPr>
          <a:xfrm>
            <a:off x="685800" y="1645920"/>
            <a:ext cx="3246121" cy="1417321"/>
            <a:chOff x="0" y="0"/>
            <a:chExt cx="3246120" cy="1417319"/>
          </a:xfrm>
        </p:grpSpPr>
        <p:sp>
          <p:nvSpPr>
            <p:cNvPr id="121" name="Rounded Rectangle"/>
            <p:cNvSpPr/>
            <p:nvPr/>
          </p:nvSpPr>
          <p:spPr>
            <a:xfrm>
              <a:off x="0" y="0"/>
              <a:ext cx="3246121" cy="1417320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2" name="1-MONTH CONTRACT…"/>
            <p:cNvSpPr txBox="1"/>
            <p:nvPr/>
          </p:nvSpPr>
          <p:spPr>
            <a:xfrm>
              <a:off x="192822" y="421807"/>
              <a:ext cx="2933628" cy="637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1-MONTH CONTRACT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E25E55"/>
                  </a:solidFill>
                </a:defRPr>
              </a:pPr>
              <a:r>
                <a:t>42.3% churn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t>Highest contract-period churn</a:t>
              </a:r>
            </a:p>
          </p:txBody>
        </p:sp>
      </p:grpSp>
      <p:grpSp>
        <p:nvGrpSpPr>
          <p:cNvPr id="126" name="Rounded Rectangle 5"/>
          <p:cNvGrpSpPr/>
          <p:nvPr/>
        </p:nvGrpSpPr>
        <p:grpSpPr>
          <a:xfrm>
            <a:off x="4206240" y="1645920"/>
            <a:ext cx="3246121" cy="1417321"/>
            <a:chOff x="0" y="0"/>
            <a:chExt cx="3246120" cy="1417319"/>
          </a:xfrm>
        </p:grpSpPr>
        <p:sp>
          <p:nvSpPr>
            <p:cNvPr id="124" name="Rounded Rectangle"/>
            <p:cNvSpPr/>
            <p:nvPr/>
          </p:nvSpPr>
          <p:spPr>
            <a:xfrm>
              <a:off x="0" y="0"/>
              <a:ext cx="3246121" cy="1417320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5" name="6-MONTH CONTRACT…"/>
            <p:cNvSpPr txBox="1"/>
            <p:nvPr/>
          </p:nvSpPr>
          <p:spPr>
            <a:xfrm>
              <a:off x="192822" y="421807"/>
              <a:ext cx="2933628" cy="637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6-MONTH CONTRACT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12.5% churn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t>Much lower than 1-month</a:t>
              </a:r>
            </a:p>
          </p:txBody>
        </p:sp>
      </p:grpSp>
      <p:grpSp>
        <p:nvGrpSpPr>
          <p:cNvPr id="129" name="Rounded Rectangle 6"/>
          <p:cNvGrpSpPr/>
          <p:nvPr/>
        </p:nvGrpSpPr>
        <p:grpSpPr>
          <a:xfrm>
            <a:off x="7726678" y="1645920"/>
            <a:ext cx="3246121" cy="1417321"/>
            <a:chOff x="0" y="0"/>
            <a:chExt cx="3246120" cy="1417319"/>
          </a:xfrm>
        </p:grpSpPr>
        <p:sp>
          <p:nvSpPr>
            <p:cNvPr id="127" name="Rounded Rectangle"/>
            <p:cNvSpPr/>
            <p:nvPr/>
          </p:nvSpPr>
          <p:spPr>
            <a:xfrm>
              <a:off x="0" y="0"/>
              <a:ext cx="3246121" cy="1417320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8" name="12-MONTH CONTRACT…"/>
            <p:cNvSpPr txBox="1"/>
            <p:nvPr/>
          </p:nvSpPr>
          <p:spPr>
            <a:xfrm>
              <a:off x="192822" y="421807"/>
              <a:ext cx="2933628" cy="637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12-MONTH CONTRACT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2.4% churn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t>Lowest contract-period churn</a:t>
              </a:r>
            </a:p>
          </p:txBody>
        </p:sp>
      </p:grpSp>
      <p:grpSp>
        <p:nvGrpSpPr>
          <p:cNvPr id="132" name="Rounded Rectangle 7"/>
          <p:cNvGrpSpPr/>
          <p:nvPr/>
        </p:nvGrpSpPr>
        <p:grpSpPr>
          <a:xfrm>
            <a:off x="685800" y="3429000"/>
            <a:ext cx="3246121" cy="1417320"/>
            <a:chOff x="0" y="0"/>
            <a:chExt cx="3246120" cy="1417319"/>
          </a:xfrm>
        </p:grpSpPr>
        <p:sp>
          <p:nvSpPr>
            <p:cNvPr id="130" name="Rounded Rectangle"/>
            <p:cNvSpPr/>
            <p:nvPr/>
          </p:nvSpPr>
          <p:spPr>
            <a:xfrm>
              <a:off x="0" y="0"/>
              <a:ext cx="3246121" cy="1417320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1" name="NO GROUP VISITS…"/>
            <p:cNvSpPr txBox="1"/>
            <p:nvPr/>
          </p:nvSpPr>
          <p:spPr>
            <a:xfrm>
              <a:off x="192822" y="421807"/>
              <a:ext cx="2933628" cy="637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NO GROUP VISITS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E25E55"/>
                  </a:solidFill>
                </a:defRPr>
              </a:pPr>
              <a:r>
                <a:t>33.0% churn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t>Higher than group-visit members</a:t>
              </a:r>
            </a:p>
          </p:txBody>
        </p:sp>
      </p:grpSp>
      <p:grpSp>
        <p:nvGrpSpPr>
          <p:cNvPr id="135" name="Rounded Rectangle 8"/>
          <p:cNvGrpSpPr/>
          <p:nvPr/>
        </p:nvGrpSpPr>
        <p:grpSpPr>
          <a:xfrm>
            <a:off x="4206240" y="3429000"/>
            <a:ext cx="3246121" cy="1417320"/>
            <a:chOff x="0" y="0"/>
            <a:chExt cx="3246120" cy="1417319"/>
          </a:xfrm>
        </p:grpSpPr>
        <p:sp>
          <p:nvSpPr>
            <p:cNvPr id="133" name="Rounded Rectangle"/>
            <p:cNvSpPr/>
            <p:nvPr/>
          </p:nvSpPr>
          <p:spPr>
            <a:xfrm>
              <a:off x="0" y="0"/>
              <a:ext cx="3246121" cy="1417320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4" name="GROUP VISITS…"/>
            <p:cNvSpPr txBox="1"/>
            <p:nvPr/>
          </p:nvSpPr>
          <p:spPr>
            <a:xfrm>
              <a:off x="192822" y="421807"/>
              <a:ext cx="2933628" cy="637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GROUP VISITS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17.3% churn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t>Lower churn rate</a:t>
              </a:r>
            </a:p>
          </p:txBody>
        </p:sp>
      </p:grpSp>
      <p:grpSp>
        <p:nvGrpSpPr>
          <p:cNvPr id="138" name="Rounded Rectangle 9"/>
          <p:cNvGrpSpPr/>
          <p:nvPr/>
        </p:nvGrpSpPr>
        <p:grpSpPr>
          <a:xfrm>
            <a:off x="7726678" y="3429000"/>
            <a:ext cx="3246121" cy="1417320"/>
            <a:chOff x="0" y="0"/>
            <a:chExt cx="3246120" cy="1417319"/>
          </a:xfrm>
        </p:grpSpPr>
        <p:sp>
          <p:nvSpPr>
            <p:cNvPr id="136" name="Rounded Rectangle"/>
            <p:cNvSpPr/>
            <p:nvPr/>
          </p:nvSpPr>
          <p:spPr>
            <a:xfrm>
              <a:off x="0" y="0"/>
              <a:ext cx="3246121" cy="1417320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7" name="LIFETIME ↔ CHURN…"/>
            <p:cNvSpPr txBox="1"/>
            <p:nvPr/>
          </p:nvSpPr>
          <p:spPr>
            <a:xfrm>
              <a:off x="192822" y="421807"/>
              <a:ext cx="2933628" cy="637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LIFETIME ↔ CHURN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-0.438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t>Longer lifetime linked with lower churn</a:t>
              </a:r>
            </a:p>
          </p:txBody>
        </p:sp>
      </p:grpSp>
      <p:sp>
        <p:nvSpPr>
          <p:cNvPr id="139" name="TextBox 10"/>
          <p:cNvSpPr txBox="1"/>
          <p:nvPr/>
        </p:nvSpPr>
        <p:spPr>
          <a:xfrm>
            <a:off x="868679" y="5349240"/>
            <a:ext cx="10149842" cy="543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1100">
                <a:solidFill>
                  <a:srgbClr val="F7FAF7"/>
                </a:solidFill>
              </a:defRPr>
            </a:pPr>
            <a:r>
              <a:t>• Business implication: contract commitment and engagement behaviour are useful signals for retention planning.</a:t>
            </a:r>
          </a:p>
          <a:p>
            <a:pPr>
              <a:spcBef>
                <a:spcPts val="1200"/>
              </a:spcBef>
              <a:defRPr sz="1100">
                <a:solidFill>
                  <a:srgbClr val="F7FAF7"/>
                </a:solidFill>
              </a:defRPr>
            </a:pPr>
            <a:r>
              <a:t>• These relationships are observational; they should guide testing and outreach, not be treated as causal proof.</a:t>
            </a:r>
          </a:p>
        </p:txBody>
      </p:sp>
      <p:sp>
        <p:nvSpPr>
          <p:cNvPr id="140" name="TextBox 11"/>
          <p:cNvSpPr txBox="1"/>
          <p:nvPr/>
        </p:nvSpPr>
        <p:spPr>
          <a:xfrm>
            <a:off x="9582398" y="6446520"/>
            <a:ext cx="1939043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800">
                <a:solidFill>
                  <a:srgbClr val="B5C3BB"/>
                </a:solidFill>
              </a:defRPr>
            </a:lvl1pPr>
          </a:lstStyle>
          <a:p>
            <a:pPr/>
            <a:r>
              <a:t>HEALTHLETICS  •  BUSINESS CAPSTONE  |  03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9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"/>
          <p:cNvSpPr/>
          <p:nvPr/>
        </p:nvSpPr>
        <p:spPr>
          <a:xfrm>
            <a:off x="-1" y="-1"/>
            <a:ext cx="12191697" cy="68582"/>
          </a:xfrm>
          <a:prstGeom prst="rect">
            <a:avLst/>
          </a:prstGeom>
          <a:solidFill>
            <a:srgbClr val="4ABE3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TextBox 2"/>
          <p:cNvSpPr txBox="1"/>
          <p:nvPr/>
        </p:nvSpPr>
        <p:spPr>
          <a:xfrm>
            <a:off x="640079" y="219456"/>
            <a:ext cx="1590265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900">
                <a:solidFill>
                  <a:srgbClr val="4ABE34"/>
                </a:solidFill>
              </a:defRPr>
            </a:lvl1pPr>
          </a:lstStyle>
          <a:p>
            <a:pPr/>
            <a:r>
              <a:t>03 • FROM INSIGHT TO ACTION</a:t>
            </a:r>
          </a:p>
        </p:txBody>
      </p:sp>
      <p:sp>
        <p:nvSpPr>
          <p:cNvPr id="144" name="TextBox 3"/>
          <p:cNvSpPr txBox="1"/>
          <p:nvPr/>
        </p:nvSpPr>
        <p:spPr>
          <a:xfrm>
            <a:off x="640079" y="530351"/>
            <a:ext cx="521016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F7FAF7"/>
                </a:solidFill>
              </a:defRPr>
            </a:lvl1pPr>
          </a:lstStyle>
          <a:p>
            <a:pPr/>
            <a:r>
              <a:t>What Member Behaviour Suggests</a:t>
            </a:r>
          </a:p>
        </p:txBody>
      </p:sp>
      <p:grpSp>
        <p:nvGrpSpPr>
          <p:cNvPr id="147" name="Rounded Rectangle 4"/>
          <p:cNvGrpSpPr/>
          <p:nvPr/>
        </p:nvGrpSpPr>
        <p:grpSpPr>
          <a:xfrm>
            <a:off x="685800" y="1645920"/>
            <a:ext cx="3246121" cy="1417321"/>
            <a:chOff x="0" y="0"/>
            <a:chExt cx="3246120" cy="1417319"/>
          </a:xfrm>
        </p:grpSpPr>
        <p:sp>
          <p:nvSpPr>
            <p:cNvPr id="145" name="Rounded Rectangle"/>
            <p:cNvSpPr/>
            <p:nvPr/>
          </p:nvSpPr>
          <p:spPr>
            <a:xfrm>
              <a:off x="0" y="0"/>
              <a:ext cx="3246121" cy="1417320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6" name="CHURNED…"/>
            <p:cNvSpPr txBox="1"/>
            <p:nvPr/>
          </p:nvSpPr>
          <p:spPr>
            <a:xfrm>
              <a:off x="192822" y="307507"/>
              <a:ext cx="2933628" cy="8663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500">
                  <a:solidFill>
                    <a:srgbClr val="B5C3BB"/>
                  </a:solidFill>
                </a:defRPr>
              </a:pPr>
              <a:r>
                <a:t>CHURNED </a:t>
              </a:r>
            </a:p>
            <a:p>
              <a:pPr algn="ctr">
                <a:defRPr b="1" sz="800">
                  <a:solidFill>
                    <a:srgbClr val="B5C3BB"/>
                  </a:solidFill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1.04 </a:t>
              </a:r>
              <a:r>
                <a:rPr sz="700">
                  <a:solidFill>
                    <a:srgbClr val="FFFFFF"/>
                  </a:solidFill>
                </a:rPr>
                <a:t>AVG. FREQUENCY</a:t>
              </a:r>
              <a:endParaRPr sz="700"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t>Current-month attendance</a:t>
              </a:r>
            </a:p>
          </p:txBody>
        </p:sp>
      </p:grpSp>
      <p:grpSp>
        <p:nvGrpSpPr>
          <p:cNvPr id="150" name="Rounded Rectangle 5"/>
          <p:cNvGrpSpPr/>
          <p:nvPr/>
        </p:nvGrpSpPr>
        <p:grpSpPr>
          <a:xfrm>
            <a:off x="4206240" y="1645920"/>
            <a:ext cx="3246121" cy="1417321"/>
            <a:chOff x="0" y="0"/>
            <a:chExt cx="3246120" cy="1417319"/>
          </a:xfrm>
        </p:grpSpPr>
        <p:sp>
          <p:nvSpPr>
            <p:cNvPr id="148" name="Rounded Rectangle"/>
            <p:cNvSpPr/>
            <p:nvPr/>
          </p:nvSpPr>
          <p:spPr>
            <a:xfrm>
              <a:off x="0" y="0"/>
              <a:ext cx="3246121" cy="1417320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9" name="RETAINED…"/>
            <p:cNvSpPr txBox="1"/>
            <p:nvPr/>
          </p:nvSpPr>
          <p:spPr>
            <a:xfrm>
              <a:off x="192822" y="358307"/>
              <a:ext cx="2933628" cy="764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600">
                  <a:solidFill>
                    <a:srgbClr val="B5C3BB"/>
                  </a:solidFill>
                </a:defRPr>
              </a:pPr>
              <a:r>
                <a:t>RETAINED 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2.03 </a:t>
              </a:r>
              <a:r>
                <a:rPr sz="700">
                  <a:solidFill>
                    <a:srgbClr val="FFFFFF"/>
                  </a:solidFill>
                </a:rPr>
                <a:t>VG. FREQUENCY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t>Current-month attendance</a:t>
              </a:r>
            </a:p>
          </p:txBody>
        </p:sp>
      </p:grpSp>
      <p:grpSp>
        <p:nvGrpSpPr>
          <p:cNvPr id="153" name="Rounded Rectangle 6"/>
          <p:cNvGrpSpPr/>
          <p:nvPr/>
        </p:nvGrpSpPr>
        <p:grpSpPr>
          <a:xfrm>
            <a:off x="7726678" y="1645920"/>
            <a:ext cx="3246121" cy="1417321"/>
            <a:chOff x="0" y="0"/>
            <a:chExt cx="3246120" cy="1417319"/>
          </a:xfrm>
        </p:grpSpPr>
        <p:sp>
          <p:nvSpPr>
            <p:cNvPr id="151" name="Rounded Rectangle"/>
            <p:cNvSpPr/>
            <p:nvPr/>
          </p:nvSpPr>
          <p:spPr>
            <a:xfrm>
              <a:off x="0" y="0"/>
              <a:ext cx="3246121" cy="1417320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2" name="KEY SIGNAL…"/>
            <p:cNvSpPr txBox="1"/>
            <p:nvPr/>
          </p:nvSpPr>
          <p:spPr>
            <a:xfrm>
              <a:off x="192822" y="421807"/>
              <a:ext cx="2933628" cy="637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KEY SIGNAL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frequency_change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t>Recent activity trend</a:t>
              </a:r>
            </a:p>
          </p:txBody>
        </p:sp>
      </p:grpSp>
      <p:sp>
        <p:nvSpPr>
          <p:cNvPr id="154" name="TextBox 7"/>
          <p:cNvSpPr txBox="1"/>
          <p:nvPr/>
        </p:nvSpPr>
        <p:spPr>
          <a:xfrm>
            <a:off x="868679" y="3566159"/>
            <a:ext cx="10149842" cy="1519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F7FAF7"/>
                </a:solidFill>
              </a:defRPr>
            </a:pPr>
            <a:r>
              <a:t>• Lower recent activity is associated with higher churn risk.</a:t>
            </a:r>
          </a:p>
          <a:p>
            <a:pPr>
              <a:spcBef>
                <a:spcPts val="1200"/>
              </a:spcBef>
              <a:defRPr sz="1600">
                <a:solidFill>
                  <a:srgbClr val="F7FAF7"/>
                </a:solidFill>
              </a:defRPr>
            </a:pPr>
            <a:r>
              <a:t>• frequency_change was the strongest predictive signal in the model.</a:t>
            </a:r>
          </a:p>
          <a:p>
            <a:pPr>
              <a:spcBef>
                <a:spcPts val="1200"/>
              </a:spcBef>
              <a:defRPr sz="1600">
                <a:solidFill>
                  <a:srgbClr val="F7FAF7"/>
                </a:solidFill>
              </a:defRPr>
            </a:pPr>
            <a:r>
              <a:t>• Business interpretation: a decline in participation can act as an early warning signal.</a:t>
            </a:r>
          </a:p>
          <a:p>
            <a:pPr>
              <a:spcBef>
                <a:spcPts val="1200"/>
              </a:spcBef>
              <a:defRPr sz="1600">
                <a:solidFill>
                  <a:srgbClr val="F7FAF7"/>
                </a:solidFill>
              </a:defRPr>
            </a:pPr>
            <a:r>
              <a:t>• Recommended response: use risk information to trigger supportive engagement—not punitive action.</a:t>
            </a:r>
          </a:p>
        </p:txBody>
      </p:sp>
      <p:sp>
        <p:nvSpPr>
          <p:cNvPr id="155" name="TextBox 8"/>
          <p:cNvSpPr txBox="1"/>
          <p:nvPr/>
        </p:nvSpPr>
        <p:spPr>
          <a:xfrm>
            <a:off x="9582398" y="6446520"/>
            <a:ext cx="1939043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800">
                <a:solidFill>
                  <a:srgbClr val="B5C3BB"/>
                </a:solidFill>
              </a:defRPr>
            </a:lvl1pPr>
          </a:lstStyle>
          <a:p>
            <a:pPr/>
            <a:r>
              <a:t>HEALTHLETICS  •  BUSINESS CAPSTONE  |  04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9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"/>
          <p:cNvSpPr/>
          <p:nvPr/>
        </p:nvSpPr>
        <p:spPr>
          <a:xfrm>
            <a:off x="-1" y="-1"/>
            <a:ext cx="12191697" cy="68582"/>
          </a:xfrm>
          <a:prstGeom prst="rect">
            <a:avLst/>
          </a:prstGeom>
          <a:solidFill>
            <a:srgbClr val="4ABE3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TextBox 2"/>
          <p:cNvSpPr txBox="1"/>
          <p:nvPr/>
        </p:nvSpPr>
        <p:spPr>
          <a:xfrm>
            <a:off x="640079" y="219456"/>
            <a:ext cx="1853914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900">
                <a:solidFill>
                  <a:srgbClr val="4ABE34"/>
                </a:solidFill>
              </a:defRPr>
            </a:lvl1pPr>
          </a:lstStyle>
          <a:p>
            <a:pPr/>
            <a:r>
              <a:t>04 • PROPOSED BUSINESS SOLUTION</a:t>
            </a:r>
          </a:p>
        </p:txBody>
      </p:sp>
      <p:sp>
        <p:nvSpPr>
          <p:cNvPr id="159" name="TextBox 3"/>
          <p:cNvSpPr txBox="1"/>
          <p:nvPr/>
        </p:nvSpPr>
        <p:spPr>
          <a:xfrm>
            <a:off x="640079" y="530351"/>
            <a:ext cx="4843796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F7FAF7"/>
                </a:solidFill>
              </a:defRPr>
            </a:lvl1pPr>
          </a:lstStyle>
          <a:p>
            <a:pPr/>
            <a:r>
              <a:t>A Proactive Retention Workflow</a:t>
            </a:r>
          </a:p>
        </p:txBody>
      </p:sp>
      <p:grpSp>
        <p:nvGrpSpPr>
          <p:cNvPr id="162" name="Rounded Rectangle 4"/>
          <p:cNvGrpSpPr/>
          <p:nvPr/>
        </p:nvGrpSpPr>
        <p:grpSpPr>
          <a:xfrm>
            <a:off x="731519" y="1554480"/>
            <a:ext cx="10607042" cy="868681"/>
            <a:chOff x="0" y="0"/>
            <a:chExt cx="10607040" cy="868680"/>
          </a:xfrm>
        </p:grpSpPr>
        <p:sp>
          <p:nvSpPr>
            <p:cNvPr id="160" name="Rounded Rectangle"/>
            <p:cNvSpPr/>
            <p:nvPr/>
          </p:nvSpPr>
          <p:spPr>
            <a:xfrm>
              <a:off x="0" y="0"/>
              <a:ext cx="10607041" cy="868681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1" name="1  IDENTIFY  Flag members with elevated churn risk."/>
            <p:cNvSpPr txBox="1"/>
            <p:nvPr/>
          </p:nvSpPr>
          <p:spPr>
            <a:xfrm>
              <a:off x="92887" y="284043"/>
              <a:ext cx="10421266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600">
                  <a:solidFill>
                    <a:srgbClr val="4ABE34"/>
                  </a:solidFill>
                </a:defRPr>
              </a:pPr>
              <a:r>
                <a:t>1</a:t>
              </a:r>
              <a:r>
                <a:rPr sz="1500">
                  <a:solidFill>
                    <a:srgbClr val="F7FAF7"/>
                  </a:solidFill>
                </a:rPr>
                <a:t>  IDENTIFY  </a:t>
              </a:r>
              <a:r>
                <a:rPr b="0" sz="1300">
                  <a:solidFill>
                    <a:srgbClr val="B5C3BB"/>
                  </a:solidFill>
                </a:rPr>
                <a:t>Flag members with elevated churn risk.</a:t>
              </a:r>
            </a:p>
          </p:txBody>
        </p:sp>
      </p:grpSp>
      <p:grpSp>
        <p:nvGrpSpPr>
          <p:cNvPr id="165" name="Rounded Rectangle 5"/>
          <p:cNvGrpSpPr/>
          <p:nvPr/>
        </p:nvGrpSpPr>
        <p:grpSpPr>
          <a:xfrm>
            <a:off x="731519" y="2651760"/>
            <a:ext cx="10607042" cy="868681"/>
            <a:chOff x="0" y="0"/>
            <a:chExt cx="10607040" cy="868680"/>
          </a:xfrm>
        </p:grpSpPr>
        <p:sp>
          <p:nvSpPr>
            <p:cNvPr id="163" name="Rounded Rectangle"/>
            <p:cNvSpPr/>
            <p:nvPr/>
          </p:nvSpPr>
          <p:spPr>
            <a:xfrm>
              <a:off x="0" y="0"/>
              <a:ext cx="10607041" cy="868681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4" name="2  UNDERSTAND  Review recent activity and member context."/>
            <p:cNvSpPr txBox="1"/>
            <p:nvPr/>
          </p:nvSpPr>
          <p:spPr>
            <a:xfrm>
              <a:off x="92887" y="284043"/>
              <a:ext cx="10421266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600">
                  <a:solidFill>
                    <a:srgbClr val="4ABE34"/>
                  </a:solidFill>
                </a:defRPr>
              </a:pPr>
              <a:r>
                <a:t>2</a:t>
              </a:r>
              <a:r>
                <a:rPr sz="1500">
                  <a:solidFill>
                    <a:srgbClr val="F7FAF7"/>
                  </a:solidFill>
                </a:rPr>
                <a:t>  UNDERSTAND  </a:t>
              </a:r>
              <a:r>
                <a:rPr b="0" sz="1300">
                  <a:solidFill>
                    <a:srgbClr val="B5C3BB"/>
                  </a:solidFill>
                </a:rPr>
                <a:t>Review recent activity and member context.</a:t>
              </a:r>
            </a:p>
          </p:txBody>
        </p:sp>
      </p:grpSp>
      <p:grpSp>
        <p:nvGrpSpPr>
          <p:cNvPr id="168" name="Rounded Rectangle 6"/>
          <p:cNvGrpSpPr/>
          <p:nvPr/>
        </p:nvGrpSpPr>
        <p:grpSpPr>
          <a:xfrm>
            <a:off x="731519" y="3749038"/>
            <a:ext cx="10607042" cy="868682"/>
            <a:chOff x="0" y="0"/>
            <a:chExt cx="10607040" cy="868680"/>
          </a:xfrm>
        </p:grpSpPr>
        <p:sp>
          <p:nvSpPr>
            <p:cNvPr id="166" name="Rounded Rectangle"/>
            <p:cNvSpPr/>
            <p:nvPr/>
          </p:nvSpPr>
          <p:spPr>
            <a:xfrm>
              <a:off x="0" y="0"/>
              <a:ext cx="10607041" cy="868681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7" name="3  ENGAGE  Offer a relevant, positive retention touchpoint."/>
            <p:cNvSpPr txBox="1"/>
            <p:nvPr/>
          </p:nvSpPr>
          <p:spPr>
            <a:xfrm>
              <a:off x="92887" y="284043"/>
              <a:ext cx="10421266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600">
                  <a:solidFill>
                    <a:srgbClr val="4ABE34"/>
                  </a:solidFill>
                </a:defRPr>
              </a:pPr>
              <a:r>
                <a:t>3</a:t>
              </a:r>
              <a:r>
                <a:rPr sz="1500">
                  <a:solidFill>
                    <a:srgbClr val="F7FAF7"/>
                  </a:solidFill>
                </a:rPr>
                <a:t>  ENGAGE  </a:t>
              </a:r>
              <a:r>
                <a:rPr b="0" sz="1300">
                  <a:solidFill>
                    <a:srgbClr val="B5C3BB"/>
                  </a:solidFill>
                </a:rPr>
                <a:t>Offer a relevant, positive retention touchpoint.</a:t>
              </a:r>
            </a:p>
          </p:txBody>
        </p:sp>
      </p:grpSp>
      <p:grpSp>
        <p:nvGrpSpPr>
          <p:cNvPr id="171" name="Rounded Rectangle 7"/>
          <p:cNvGrpSpPr/>
          <p:nvPr/>
        </p:nvGrpSpPr>
        <p:grpSpPr>
          <a:xfrm>
            <a:off x="731519" y="4846320"/>
            <a:ext cx="10607042" cy="868681"/>
            <a:chOff x="0" y="0"/>
            <a:chExt cx="10607040" cy="868680"/>
          </a:xfrm>
        </p:grpSpPr>
        <p:sp>
          <p:nvSpPr>
            <p:cNvPr id="169" name="Rounded Rectangle"/>
            <p:cNvSpPr/>
            <p:nvPr/>
          </p:nvSpPr>
          <p:spPr>
            <a:xfrm>
              <a:off x="0" y="0"/>
              <a:ext cx="10607041" cy="868681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0" name="4  LEARN  Track outcomes and refine the approach."/>
            <p:cNvSpPr txBox="1"/>
            <p:nvPr/>
          </p:nvSpPr>
          <p:spPr>
            <a:xfrm>
              <a:off x="92887" y="284043"/>
              <a:ext cx="10421266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600">
                  <a:solidFill>
                    <a:srgbClr val="4ABE34"/>
                  </a:solidFill>
                </a:defRPr>
              </a:pPr>
              <a:r>
                <a:t>4</a:t>
              </a:r>
              <a:r>
                <a:rPr sz="1500">
                  <a:solidFill>
                    <a:srgbClr val="F7FAF7"/>
                  </a:solidFill>
                </a:rPr>
                <a:t>  LEARN  </a:t>
              </a:r>
              <a:r>
                <a:rPr b="0" sz="1300">
                  <a:solidFill>
                    <a:srgbClr val="B5C3BB"/>
                  </a:solidFill>
                </a:rPr>
                <a:t>Track outcomes and refine the approach.</a:t>
              </a:r>
            </a:p>
          </p:txBody>
        </p:sp>
      </p:grpSp>
      <p:sp>
        <p:nvSpPr>
          <p:cNvPr id="172" name="TextBox 8"/>
          <p:cNvSpPr txBox="1"/>
          <p:nvPr/>
        </p:nvSpPr>
        <p:spPr>
          <a:xfrm>
            <a:off x="9582398" y="6446520"/>
            <a:ext cx="1939043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800">
                <a:solidFill>
                  <a:srgbClr val="B5C3BB"/>
                </a:solidFill>
              </a:defRPr>
            </a:lvl1pPr>
          </a:lstStyle>
          <a:p>
            <a:pPr/>
            <a:r>
              <a:t>HEALTHLETICS  •  BUSINESS CAPSTONE  |  05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9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 1"/>
          <p:cNvSpPr/>
          <p:nvPr/>
        </p:nvSpPr>
        <p:spPr>
          <a:xfrm>
            <a:off x="-1" y="-1"/>
            <a:ext cx="12191697" cy="68582"/>
          </a:xfrm>
          <a:prstGeom prst="rect">
            <a:avLst/>
          </a:prstGeom>
          <a:solidFill>
            <a:srgbClr val="4ABE3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" name="TextBox 2"/>
          <p:cNvSpPr txBox="1"/>
          <p:nvPr/>
        </p:nvSpPr>
        <p:spPr>
          <a:xfrm>
            <a:off x="640079" y="219456"/>
            <a:ext cx="155181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900">
                <a:solidFill>
                  <a:srgbClr val="4ABE34"/>
                </a:solidFill>
              </a:defRPr>
            </a:lvl1pPr>
          </a:lstStyle>
          <a:p>
            <a:pPr/>
            <a:r>
              <a:t>05 • FROM MODEL TO ACTION</a:t>
            </a:r>
          </a:p>
        </p:txBody>
      </p:sp>
      <p:sp>
        <p:nvSpPr>
          <p:cNvPr id="176" name="TextBox 3"/>
          <p:cNvSpPr txBox="1"/>
          <p:nvPr/>
        </p:nvSpPr>
        <p:spPr>
          <a:xfrm>
            <a:off x="640079" y="515362"/>
            <a:ext cx="8351526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F7FAF7"/>
                </a:solidFill>
              </a:defRPr>
            </a:lvl1pPr>
          </a:lstStyle>
          <a:p>
            <a:pPr/>
            <a:r>
              <a:t>USING THE MODEL TO PRIORITIZE RETENTION SUPPORT</a:t>
            </a:r>
          </a:p>
        </p:txBody>
      </p:sp>
      <p:grpSp>
        <p:nvGrpSpPr>
          <p:cNvPr id="179" name="Rounded Rectangle 4"/>
          <p:cNvGrpSpPr/>
          <p:nvPr/>
        </p:nvGrpSpPr>
        <p:grpSpPr>
          <a:xfrm>
            <a:off x="685800" y="1600200"/>
            <a:ext cx="3246121" cy="1417320"/>
            <a:chOff x="0" y="0"/>
            <a:chExt cx="3246120" cy="1417319"/>
          </a:xfrm>
        </p:grpSpPr>
        <p:sp>
          <p:nvSpPr>
            <p:cNvPr id="177" name="Rounded Rectangle"/>
            <p:cNvSpPr/>
            <p:nvPr/>
          </p:nvSpPr>
          <p:spPr>
            <a:xfrm>
              <a:off x="0" y="0"/>
              <a:ext cx="3246121" cy="1417320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8" name="SELECTED MODEL…"/>
            <p:cNvSpPr txBox="1"/>
            <p:nvPr/>
          </p:nvSpPr>
          <p:spPr>
            <a:xfrm>
              <a:off x="192822" y="371007"/>
              <a:ext cx="2933628" cy="7393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B5C3BB"/>
                  </a:solidFill>
                </a:defRPr>
              </a:pPr>
              <a:r>
                <a:t>SELECTED MODEL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RANDOM FOREST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t>Strongest tested candidate</a:t>
              </a:r>
            </a:p>
          </p:txBody>
        </p:sp>
      </p:grpSp>
      <p:grpSp>
        <p:nvGrpSpPr>
          <p:cNvPr id="182" name="Rounded Rectangle 5"/>
          <p:cNvGrpSpPr/>
          <p:nvPr/>
        </p:nvGrpSpPr>
        <p:grpSpPr>
          <a:xfrm>
            <a:off x="4206240" y="1600200"/>
            <a:ext cx="3246121" cy="1417320"/>
            <a:chOff x="0" y="0"/>
            <a:chExt cx="3246120" cy="1417319"/>
          </a:xfrm>
        </p:grpSpPr>
        <p:sp>
          <p:nvSpPr>
            <p:cNvPr id="180" name="Rounded Rectangle"/>
            <p:cNvSpPr/>
            <p:nvPr/>
          </p:nvSpPr>
          <p:spPr>
            <a:xfrm>
              <a:off x="0" y="0"/>
              <a:ext cx="3246121" cy="1417320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1" name="ROC-AUC…"/>
            <p:cNvSpPr txBox="1"/>
            <p:nvPr/>
          </p:nvSpPr>
          <p:spPr>
            <a:xfrm>
              <a:off x="192822" y="358307"/>
              <a:ext cx="2933628" cy="764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600">
                  <a:solidFill>
                    <a:srgbClr val="B5C3BB"/>
                  </a:solidFill>
                </a:defRPr>
              </a:pPr>
              <a:r>
                <a:t>ROC-AUC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0.9879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t>Held-out test set</a:t>
              </a:r>
            </a:p>
          </p:txBody>
        </p:sp>
      </p:grpSp>
      <p:grpSp>
        <p:nvGrpSpPr>
          <p:cNvPr id="185" name="Rounded Rectangle 6"/>
          <p:cNvGrpSpPr/>
          <p:nvPr/>
        </p:nvGrpSpPr>
        <p:grpSpPr>
          <a:xfrm>
            <a:off x="7726678" y="1600200"/>
            <a:ext cx="3246121" cy="1417320"/>
            <a:chOff x="0" y="0"/>
            <a:chExt cx="3246120" cy="1417319"/>
          </a:xfrm>
        </p:grpSpPr>
        <p:sp>
          <p:nvSpPr>
            <p:cNvPr id="183" name="Rounded Rectangle"/>
            <p:cNvSpPr/>
            <p:nvPr/>
          </p:nvSpPr>
          <p:spPr>
            <a:xfrm>
              <a:off x="0" y="0"/>
              <a:ext cx="3246121" cy="1417320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4" name="RECALL…"/>
            <p:cNvSpPr txBox="1"/>
            <p:nvPr/>
          </p:nvSpPr>
          <p:spPr>
            <a:xfrm>
              <a:off x="192822" y="351957"/>
              <a:ext cx="2933628" cy="7774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700">
                  <a:solidFill>
                    <a:srgbClr val="B5C3BB"/>
                  </a:solidFill>
                </a:defRPr>
              </a:pPr>
              <a:r>
                <a:t>RECALL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0.9057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t>Churners identified</a:t>
              </a:r>
            </a:p>
          </p:txBody>
        </p:sp>
      </p:grpSp>
      <p:grpSp>
        <p:nvGrpSpPr>
          <p:cNvPr id="188" name="Rounded Rectangle 7"/>
          <p:cNvGrpSpPr/>
          <p:nvPr/>
        </p:nvGrpSpPr>
        <p:grpSpPr>
          <a:xfrm>
            <a:off x="923290" y="3657600"/>
            <a:ext cx="10332720" cy="1508761"/>
            <a:chOff x="0" y="0"/>
            <a:chExt cx="10332719" cy="1508760"/>
          </a:xfrm>
        </p:grpSpPr>
        <p:sp>
          <p:nvSpPr>
            <p:cNvPr id="186" name="Rounded Rectangle"/>
            <p:cNvSpPr/>
            <p:nvPr/>
          </p:nvSpPr>
          <p:spPr>
            <a:xfrm>
              <a:off x="0" y="0"/>
              <a:ext cx="10332720" cy="1508761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4ABE34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7" name="BUSINESS INTERPRETATION…"/>
            <p:cNvSpPr txBox="1"/>
            <p:nvPr/>
          </p:nvSpPr>
          <p:spPr>
            <a:xfrm>
              <a:off x="124134" y="493987"/>
              <a:ext cx="10084452" cy="5207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200">
                  <a:solidFill>
                    <a:srgbClr val="4ABE34"/>
                  </a:solidFill>
                </a:defRPr>
              </a:pPr>
              <a:r>
                <a:t>BUSINESS INTERPRETATION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b="1" sz="1900">
                  <a:solidFill>
                    <a:srgbClr val="F7FAF7"/>
                  </a:solidFill>
                </a:defRPr>
              </a:pPr>
              <a:r>
                <a:t>The model can help Healthletics prioritize members who may benefit from earlier retention.</a:t>
              </a:r>
            </a:p>
          </p:txBody>
        </p:sp>
      </p:grpSp>
      <p:sp>
        <p:nvSpPr>
          <p:cNvPr id="189" name="TextBox 8"/>
          <p:cNvSpPr txBox="1"/>
          <p:nvPr/>
        </p:nvSpPr>
        <p:spPr>
          <a:xfrm>
            <a:off x="9582398" y="6446520"/>
            <a:ext cx="1939043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800">
                <a:solidFill>
                  <a:srgbClr val="B5C3BB"/>
                </a:solidFill>
              </a:defRPr>
            </a:lvl1pPr>
          </a:lstStyle>
          <a:p>
            <a:pPr/>
            <a:r>
              <a:t>HEALTHLETICS  •  BUSINESS CAPSTONE  |  06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9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1"/>
          <p:cNvSpPr/>
          <p:nvPr/>
        </p:nvSpPr>
        <p:spPr>
          <a:xfrm>
            <a:off x="-1" y="-1"/>
            <a:ext cx="12191697" cy="68582"/>
          </a:xfrm>
          <a:prstGeom prst="rect">
            <a:avLst/>
          </a:prstGeom>
          <a:solidFill>
            <a:srgbClr val="4ABE3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TextBox 2"/>
          <p:cNvSpPr txBox="1"/>
          <p:nvPr/>
        </p:nvSpPr>
        <p:spPr>
          <a:xfrm>
            <a:off x="640079" y="196509"/>
            <a:ext cx="1122293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900">
                <a:solidFill>
                  <a:srgbClr val="4ABE34"/>
                </a:solidFill>
              </a:defRPr>
            </a:lvl1pPr>
          </a:lstStyle>
          <a:p>
            <a:pPr/>
            <a:r>
              <a:t>06 • BUSINESS VALUE</a:t>
            </a:r>
          </a:p>
        </p:txBody>
      </p:sp>
      <p:sp>
        <p:nvSpPr>
          <p:cNvPr id="193" name="TextBox 3"/>
          <p:cNvSpPr txBox="1"/>
          <p:nvPr/>
        </p:nvSpPr>
        <p:spPr>
          <a:xfrm>
            <a:off x="678703" y="530351"/>
            <a:ext cx="5164669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F7FAF7"/>
                </a:solidFill>
              </a:defRPr>
            </a:lvl1pPr>
          </a:lstStyle>
          <a:p>
            <a:pPr/>
            <a:r>
              <a:t> WHAT SUCCESS COULD LOOK LIKE</a:t>
            </a:r>
          </a:p>
        </p:txBody>
      </p:sp>
      <p:grpSp>
        <p:nvGrpSpPr>
          <p:cNvPr id="196" name="Rounded Rectangle 4"/>
          <p:cNvGrpSpPr/>
          <p:nvPr/>
        </p:nvGrpSpPr>
        <p:grpSpPr>
          <a:xfrm>
            <a:off x="731519" y="1645920"/>
            <a:ext cx="3246122" cy="1417321"/>
            <a:chOff x="0" y="0"/>
            <a:chExt cx="3246120" cy="1417319"/>
          </a:xfrm>
        </p:grpSpPr>
        <p:sp>
          <p:nvSpPr>
            <p:cNvPr id="194" name="Rounded Rectangle"/>
            <p:cNvSpPr/>
            <p:nvPr/>
          </p:nvSpPr>
          <p:spPr>
            <a:xfrm>
              <a:off x="0" y="0"/>
              <a:ext cx="3246121" cy="1417320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5" name="POTENTIAL VALUE…"/>
            <p:cNvSpPr txBox="1"/>
            <p:nvPr/>
          </p:nvSpPr>
          <p:spPr>
            <a:xfrm>
              <a:off x="192822" y="421807"/>
              <a:ext cx="2933628" cy="637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POTENTIAL VALUE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RETAIN MEMBERS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t>Protect recurring membership value</a:t>
              </a:r>
            </a:p>
          </p:txBody>
        </p:sp>
      </p:grpSp>
      <p:grpSp>
        <p:nvGrpSpPr>
          <p:cNvPr id="199" name="Rounded Rectangle 5"/>
          <p:cNvGrpSpPr/>
          <p:nvPr/>
        </p:nvGrpSpPr>
        <p:grpSpPr>
          <a:xfrm>
            <a:off x="4206240" y="1645920"/>
            <a:ext cx="3246121" cy="1417321"/>
            <a:chOff x="0" y="0"/>
            <a:chExt cx="3246120" cy="1417319"/>
          </a:xfrm>
        </p:grpSpPr>
        <p:sp>
          <p:nvSpPr>
            <p:cNvPr id="197" name="Rounded Rectangle"/>
            <p:cNvSpPr/>
            <p:nvPr/>
          </p:nvSpPr>
          <p:spPr>
            <a:xfrm>
              <a:off x="0" y="0"/>
              <a:ext cx="3246121" cy="1417320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8" name="OPERATIONAL VALUE…"/>
            <p:cNvSpPr txBox="1"/>
            <p:nvPr/>
          </p:nvSpPr>
          <p:spPr>
            <a:xfrm>
              <a:off x="192822" y="421807"/>
              <a:ext cx="2933628" cy="637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OPERATIONAL VALUE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PRIORITIZE OUTREACH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t>Focus staff attention</a:t>
              </a:r>
            </a:p>
          </p:txBody>
        </p:sp>
      </p:grpSp>
      <p:grpSp>
        <p:nvGrpSpPr>
          <p:cNvPr id="202" name="Rounded Rectangle 6"/>
          <p:cNvGrpSpPr/>
          <p:nvPr/>
        </p:nvGrpSpPr>
        <p:grpSpPr>
          <a:xfrm>
            <a:off x="7680959" y="1645920"/>
            <a:ext cx="3246121" cy="1417321"/>
            <a:chOff x="0" y="0"/>
            <a:chExt cx="3246120" cy="1417319"/>
          </a:xfrm>
        </p:grpSpPr>
        <p:sp>
          <p:nvSpPr>
            <p:cNvPr id="200" name="Rounded Rectangle"/>
            <p:cNvSpPr/>
            <p:nvPr/>
          </p:nvSpPr>
          <p:spPr>
            <a:xfrm>
              <a:off x="0" y="0"/>
              <a:ext cx="3246121" cy="1417320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1" name="STRATEGIC VALUE…"/>
            <p:cNvSpPr txBox="1"/>
            <p:nvPr/>
          </p:nvSpPr>
          <p:spPr>
            <a:xfrm>
              <a:off x="192822" y="421807"/>
              <a:ext cx="2933628" cy="637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B5C3BB"/>
                  </a:solidFill>
                </a:defRPr>
              </a:pPr>
              <a:r>
                <a:t>STRATEGIC VALUE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LEARN BEHAVIOUR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B5C3BB"/>
                  </a:solidFill>
                </a:defRPr>
              </a:pPr>
              <a:r>
                <a:t>Build evidence-based retention</a:t>
              </a:r>
            </a:p>
          </p:txBody>
        </p:sp>
      </p:grpSp>
      <p:sp>
        <p:nvSpPr>
          <p:cNvPr id="203" name="TextBox 7"/>
          <p:cNvSpPr txBox="1"/>
          <p:nvPr/>
        </p:nvSpPr>
        <p:spPr>
          <a:xfrm>
            <a:off x="914399" y="3657600"/>
            <a:ext cx="10058401" cy="1039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1500">
                <a:solidFill>
                  <a:srgbClr val="F7FAF7"/>
                </a:solidFill>
              </a:defRPr>
            </a:pPr>
            <a:r>
              <a:t>• The project does not contain Healthletics financial data, so a dollar ROI is not claimed here.</a:t>
            </a:r>
          </a:p>
          <a:p>
            <a:pPr>
              <a:spcBef>
                <a:spcPts val="1200"/>
              </a:spcBef>
              <a:defRPr sz="1500">
                <a:solidFill>
                  <a:srgbClr val="F7FAF7"/>
                </a:solidFill>
              </a:defRPr>
            </a:pPr>
            <a:r>
              <a:t>• A production ROI calculation should combine member lifetime value, retention uplift, intervention cost and staff effort.</a:t>
            </a:r>
          </a:p>
          <a:p>
            <a:pPr>
              <a:spcBef>
                <a:spcPts val="1200"/>
              </a:spcBef>
              <a:defRPr sz="1500">
                <a:solidFill>
                  <a:srgbClr val="F7FAF7"/>
                </a:solidFill>
              </a:defRPr>
            </a:pPr>
            <a:r>
              <a:t>• A controlled pilot can establish the actual retention uplift before scaling.</a:t>
            </a:r>
          </a:p>
        </p:txBody>
      </p:sp>
      <p:sp>
        <p:nvSpPr>
          <p:cNvPr id="204" name="TextBox 8"/>
          <p:cNvSpPr txBox="1"/>
          <p:nvPr/>
        </p:nvSpPr>
        <p:spPr>
          <a:xfrm>
            <a:off x="9582398" y="6446520"/>
            <a:ext cx="1939043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800">
                <a:solidFill>
                  <a:srgbClr val="B5C3BB"/>
                </a:solidFill>
              </a:defRPr>
            </a:lvl1pPr>
          </a:lstStyle>
          <a:p>
            <a:pPr/>
            <a:r>
              <a:t>HEALTHLETICS  •  BUSINESS CAPSTONE  |  07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9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1"/>
          <p:cNvSpPr/>
          <p:nvPr/>
        </p:nvSpPr>
        <p:spPr>
          <a:xfrm>
            <a:off x="-1" y="-1"/>
            <a:ext cx="12191697" cy="68582"/>
          </a:xfrm>
          <a:prstGeom prst="rect">
            <a:avLst/>
          </a:prstGeom>
          <a:solidFill>
            <a:srgbClr val="4ABE3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" name="TextBox 2"/>
          <p:cNvSpPr txBox="1"/>
          <p:nvPr/>
        </p:nvSpPr>
        <p:spPr>
          <a:xfrm>
            <a:off x="640079" y="219456"/>
            <a:ext cx="1294246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900">
                <a:solidFill>
                  <a:srgbClr val="4ABE34"/>
                </a:solidFill>
              </a:defRPr>
            </a:lvl1pPr>
          </a:lstStyle>
          <a:p>
            <a:pPr/>
            <a:r>
              <a:t>07 • RISK MANAGEMENT</a:t>
            </a:r>
          </a:p>
        </p:txBody>
      </p:sp>
      <p:sp>
        <p:nvSpPr>
          <p:cNvPr id="208" name="TextBox 3"/>
          <p:cNvSpPr txBox="1"/>
          <p:nvPr/>
        </p:nvSpPr>
        <p:spPr>
          <a:xfrm>
            <a:off x="640080" y="530351"/>
            <a:ext cx="5130637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2800">
                <a:solidFill>
                  <a:srgbClr val="F7FAF7"/>
                </a:solidFill>
              </a:defRPr>
            </a:lvl1pPr>
          </a:lstStyle>
          <a:p>
            <a:pPr/>
            <a:r>
              <a:t>Key Risks &amp; How to Manage Them</a:t>
            </a:r>
          </a:p>
        </p:txBody>
      </p:sp>
      <p:grpSp>
        <p:nvGrpSpPr>
          <p:cNvPr id="211" name="Rounded Rectangle 4"/>
          <p:cNvGrpSpPr/>
          <p:nvPr/>
        </p:nvGrpSpPr>
        <p:grpSpPr>
          <a:xfrm>
            <a:off x="640080" y="1417319"/>
            <a:ext cx="10972801" cy="914401"/>
            <a:chOff x="0" y="0"/>
            <a:chExt cx="10972800" cy="914400"/>
          </a:xfrm>
        </p:grpSpPr>
        <p:sp>
          <p:nvSpPr>
            <p:cNvPr id="209" name="Rounded Rectangle"/>
            <p:cNvSpPr/>
            <p:nvPr/>
          </p:nvSpPr>
          <p:spPr>
            <a:xfrm>
              <a:off x="0" y="0"/>
              <a:ext cx="10972800" cy="914400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0" name="DATA GENERALIZABILITY…"/>
            <p:cNvSpPr txBox="1"/>
            <p:nvPr/>
          </p:nvSpPr>
          <p:spPr>
            <a:xfrm>
              <a:off x="95119" y="88200"/>
              <a:ext cx="10782562" cy="738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500">
                  <a:solidFill>
                    <a:srgbClr val="4ABE34"/>
                  </a:solidFill>
                </a:defRPr>
              </a:pPr>
              <a:r>
                <a:t>DATA GENERALIZABILITY</a:t>
              </a:r>
            </a:p>
            <a:p>
              <a:pPr algn="ctr">
                <a:defRPr b="1" sz="1200">
                  <a:solidFill>
                    <a:srgbClr val="4ABE34"/>
                  </a:solidFill>
                </a:defRPr>
              </a:pPr>
              <a:r>
                <a:rPr b="0" sz="1100">
                  <a:solidFill>
                    <a:srgbClr val="F7FAF7"/>
                  </a:solidFill>
                </a:rPr>
                <a:t>  </a:t>
              </a:r>
              <a:r>
                <a:rPr b="0" sz="1400">
                  <a:solidFill>
                    <a:srgbClr val="F7FAF7"/>
                  </a:solidFill>
                </a:rPr>
                <a:t>Public dataset may not represent Healthletics members.</a:t>
              </a:r>
              <a:endParaRPr sz="1400">
                <a:solidFill>
                  <a:srgbClr val="FFFFFF"/>
                </a:solidFill>
              </a:endParaRPr>
            </a:p>
            <a:p>
              <a:pPr algn="ctr">
                <a:defRPr sz="1400">
                  <a:solidFill>
                    <a:srgbClr val="B5C3BB"/>
                  </a:solidFill>
                </a:defRPr>
              </a:pPr>
              <a:r>
                <a:t>Mitigation: Validate on real, appropriately collected Healthletics data.</a:t>
              </a:r>
            </a:p>
          </p:txBody>
        </p:sp>
      </p:grpSp>
      <p:grpSp>
        <p:nvGrpSpPr>
          <p:cNvPr id="214" name="Rounded Rectangle 5"/>
          <p:cNvGrpSpPr/>
          <p:nvPr/>
        </p:nvGrpSpPr>
        <p:grpSpPr>
          <a:xfrm>
            <a:off x="640080" y="2560320"/>
            <a:ext cx="10972801" cy="914401"/>
            <a:chOff x="0" y="0"/>
            <a:chExt cx="10972800" cy="914400"/>
          </a:xfrm>
        </p:grpSpPr>
        <p:sp>
          <p:nvSpPr>
            <p:cNvPr id="212" name="Rounded Rectangle"/>
            <p:cNvSpPr/>
            <p:nvPr/>
          </p:nvSpPr>
          <p:spPr>
            <a:xfrm>
              <a:off x="0" y="0"/>
              <a:ext cx="10972800" cy="914400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3" name="FAIRNESS…"/>
            <p:cNvSpPr txBox="1"/>
            <p:nvPr/>
          </p:nvSpPr>
          <p:spPr>
            <a:xfrm>
              <a:off x="95119" y="75500"/>
              <a:ext cx="10782562" cy="763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600">
                  <a:solidFill>
                    <a:srgbClr val="4ABE34"/>
                  </a:solidFill>
                </a:defRPr>
              </a:pPr>
              <a:r>
                <a:t>FAIRNESS</a:t>
              </a:r>
              <a:r>
                <a:rPr b="0">
                  <a:solidFill>
                    <a:srgbClr val="F7FAF7"/>
                  </a:solidFill>
                </a:rPr>
                <a:t>   </a:t>
              </a:r>
              <a:endParaRPr b="0">
                <a:solidFill>
                  <a:srgbClr val="F7FAF7"/>
                </a:solidFill>
              </a:endParaRPr>
            </a:p>
            <a:p>
              <a:pPr algn="ctr">
                <a:defRPr b="1" sz="1400">
                  <a:solidFill>
                    <a:srgbClr val="4ABE34"/>
                  </a:solidFill>
                </a:defRPr>
              </a:pPr>
              <a:r>
                <a:rPr b="0">
                  <a:solidFill>
                    <a:srgbClr val="F7FAF7"/>
                  </a:solidFill>
                </a:rPr>
                <a:t>Performance can vary across demographic groups.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400">
                  <a:solidFill>
                    <a:srgbClr val="B5C3BB"/>
                  </a:solidFill>
                </a:defRPr>
              </a:pPr>
              <a:r>
                <a:t>Mitigation: Monitor group-level performance and prediction rates.</a:t>
              </a:r>
            </a:p>
          </p:txBody>
        </p:sp>
      </p:grpSp>
      <p:grpSp>
        <p:nvGrpSpPr>
          <p:cNvPr id="217" name="Rounded Rectangle 6"/>
          <p:cNvGrpSpPr/>
          <p:nvPr/>
        </p:nvGrpSpPr>
        <p:grpSpPr>
          <a:xfrm>
            <a:off x="640080" y="3703320"/>
            <a:ext cx="10972801" cy="914401"/>
            <a:chOff x="0" y="0"/>
            <a:chExt cx="10972800" cy="914400"/>
          </a:xfrm>
        </p:grpSpPr>
        <p:sp>
          <p:nvSpPr>
            <p:cNvPr id="215" name="Rounded Rectangle"/>
            <p:cNvSpPr/>
            <p:nvPr/>
          </p:nvSpPr>
          <p:spPr>
            <a:xfrm>
              <a:off x="0" y="0"/>
              <a:ext cx="10972800" cy="914400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6" name="OVER-RELIANCE…"/>
            <p:cNvSpPr txBox="1"/>
            <p:nvPr/>
          </p:nvSpPr>
          <p:spPr>
            <a:xfrm>
              <a:off x="95119" y="52903"/>
              <a:ext cx="10782562" cy="808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200">
                  <a:solidFill>
                    <a:srgbClr val="4ABE34"/>
                  </a:solidFill>
                </a:defRPr>
              </a:pPr>
              <a:r>
                <a:rPr sz="1600"/>
                <a:t>OVER-RELIANCE</a:t>
              </a:r>
              <a:r>
                <a:rPr b="0" sz="1600">
                  <a:solidFill>
                    <a:srgbClr val="F7FAF7"/>
                  </a:solidFill>
                </a:rPr>
                <a:t> </a:t>
              </a:r>
              <a:endParaRPr b="0" sz="1600">
                <a:solidFill>
                  <a:srgbClr val="F7FAF7"/>
                </a:solidFill>
              </a:endParaRPr>
            </a:p>
            <a:p>
              <a:pPr algn="ctr">
                <a:defRPr b="1" sz="1600">
                  <a:solidFill>
                    <a:srgbClr val="4ABE34"/>
                  </a:solidFill>
                </a:defRPr>
              </a:pPr>
              <a:r>
                <a:rPr b="0">
                  <a:solidFill>
                    <a:srgbClr val="F7FAF7"/>
                  </a:solidFill>
                </a:rPr>
                <a:t>Predictions can be mistaken for certainty.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600">
                  <a:solidFill>
                    <a:srgbClr val="B5C3BB"/>
                  </a:solidFill>
                </a:defRPr>
              </a:pPr>
              <a:r>
                <a:t>Mitigation: Use human oversight and supportive interventions.</a:t>
              </a:r>
            </a:p>
          </p:txBody>
        </p:sp>
      </p:grpSp>
      <p:grpSp>
        <p:nvGrpSpPr>
          <p:cNvPr id="220" name="Rounded Rectangle 7"/>
          <p:cNvGrpSpPr/>
          <p:nvPr/>
        </p:nvGrpSpPr>
        <p:grpSpPr>
          <a:xfrm>
            <a:off x="640080" y="4846320"/>
            <a:ext cx="10972801" cy="914401"/>
            <a:chOff x="0" y="0"/>
            <a:chExt cx="10972800" cy="914400"/>
          </a:xfrm>
        </p:grpSpPr>
        <p:sp>
          <p:nvSpPr>
            <p:cNvPr id="218" name="Rounded Rectangle"/>
            <p:cNvSpPr/>
            <p:nvPr/>
          </p:nvSpPr>
          <p:spPr>
            <a:xfrm>
              <a:off x="0" y="0"/>
              <a:ext cx="10972800" cy="914400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9" name="PRIVACY…"/>
            <p:cNvSpPr txBox="1"/>
            <p:nvPr/>
          </p:nvSpPr>
          <p:spPr>
            <a:xfrm>
              <a:off x="95119" y="76901"/>
              <a:ext cx="10782562" cy="7605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200">
                  <a:solidFill>
                    <a:srgbClr val="4ABE34"/>
                  </a:solidFill>
                </a:defRPr>
              </a:pPr>
              <a:r>
                <a:rPr sz="1600"/>
                <a:t>PRIVACY</a:t>
              </a:r>
              <a:r>
                <a:rPr b="0" sz="1100">
                  <a:solidFill>
                    <a:srgbClr val="F7FAF7"/>
                  </a:solidFill>
                </a:rPr>
                <a:t>   </a:t>
              </a:r>
              <a:endParaRPr b="0" sz="1100">
                <a:solidFill>
                  <a:srgbClr val="F7FAF7"/>
                </a:solidFill>
              </a:endParaRPr>
            </a:p>
            <a:p>
              <a:pPr algn="ctr">
                <a:defRPr b="1" sz="1500">
                  <a:solidFill>
                    <a:srgbClr val="4ABE34"/>
                  </a:solidFill>
                </a:defRPr>
              </a:pPr>
              <a:r>
                <a:rPr b="0">
                  <a:solidFill>
                    <a:srgbClr val="F7FAF7"/>
                  </a:solidFill>
                </a:rPr>
                <a:t>Future Healthletics member data sensitive.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500">
                  <a:solidFill>
                    <a:srgbClr val="B5C3BB"/>
                  </a:solidFill>
                </a:defRPr>
              </a:pPr>
              <a:r>
                <a:t>Mitigation: Apply access controls, minimization and secure handling.</a:t>
              </a:r>
            </a:p>
          </p:txBody>
        </p:sp>
      </p:grpSp>
      <p:sp>
        <p:nvSpPr>
          <p:cNvPr id="221" name="TextBox 8"/>
          <p:cNvSpPr txBox="1"/>
          <p:nvPr/>
        </p:nvSpPr>
        <p:spPr>
          <a:xfrm>
            <a:off x="9582398" y="6446520"/>
            <a:ext cx="1939043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800">
                <a:solidFill>
                  <a:srgbClr val="B5C3BB"/>
                </a:solidFill>
              </a:defRPr>
            </a:lvl1pPr>
          </a:lstStyle>
          <a:p>
            <a:pPr/>
            <a:r>
              <a:t>HEALTHLETICS  •  BUSINESS CAPSTONE  |  08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9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Rectangle 1"/>
          <p:cNvSpPr/>
          <p:nvPr/>
        </p:nvSpPr>
        <p:spPr>
          <a:xfrm>
            <a:off x="-1" y="-1"/>
            <a:ext cx="12191697" cy="68582"/>
          </a:xfrm>
          <a:prstGeom prst="rect">
            <a:avLst/>
          </a:prstGeom>
          <a:solidFill>
            <a:srgbClr val="4ABE3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TextBox 2"/>
          <p:cNvSpPr txBox="1"/>
          <p:nvPr/>
        </p:nvSpPr>
        <p:spPr>
          <a:xfrm>
            <a:off x="640079" y="219456"/>
            <a:ext cx="170367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900">
                <a:solidFill>
                  <a:srgbClr val="4ABE34"/>
                </a:solidFill>
              </a:defRPr>
            </a:lvl1pPr>
          </a:lstStyle>
          <a:p>
            <a:pPr/>
            <a:r>
              <a:t>08 • IMPLEMENTATION STRATEGY</a:t>
            </a:r>
          </a:p>
        </p:txBody>
      </p:sp>
      <p:sp>
        <p:nvSpPr>
          <p:cNvPr id="225" name="TextBox 3"/>
          <p:cNvSpPr txBox="1"/>
          <p:nvPr/>
        </p:nvSpPr>
        <p:spPr>
          <a:xfrm>
            <a:off x="640079" y="530351"/>
            <a:ext cx="4381759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F7FAF7"/>
                </a:solidFill>
              </a:defRPr>
            </a:lvl1pPr>
          </a:lstStyle>
          <a:p>
            <a:pPr/>
            <a:r>
              <a:t>Recommended Pilot Strategy</a:t>
            </a:r>
          </a:p>
        </p:txBody>
      </p:sp>
      <p:grpSp>
        <p:nvGrpSpPr>
          <p:cNvPr id="228" name="Rounded Rectangle 4"/>
          <p:cNvGrpSpPr/>
          <p:nvPr/>
        </p:nvGrpSpPr>
        <p:grpSpPr>
          <a:xfrm>
            <a:off x="594359" y="1828800"/>
            <a:ext cx="2468881" cy="3246121"/>
            <a:chOff x="0" y="0"/>
            <a:chExt cx="2468879" cy="3246120"/>
          </a:xfrm>
        </p:grpSpPr>
        <p:sp>
          <p:nvSpPr>
            <p:cNvPr id="226" name="Rounded Rectangle"/>
            <p:cNvSpPr/>
            <p:nvPr/>
          </p:nvSpPr>
          <p:spPr>
            <a:xfrm>
              <a:off x="0" y="0"/>
              <a:ext cx="2468880" cy="3246121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4ABE34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7" name="PHASE 1…"/>
            <p:cNvSpPr txBox="1"/>
            <p:nvPr/>
          </p:nvSpPr>
          <p:spPr>
            <a:xfrm>
              <a:off x="244155" y="1276780"/>
              <a:ext cx="1980570" cy="8480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000">
                  <a:solidFill>
                    <a:srgbClr val="4ABE34"/>
                  </a:solidFill>
                </a:defRPr>
              </a:pPr>
              <a:r>
                <a:t>PHASE 1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b="1" sz="1900">
                  <a:solidFill>
                    <a:srgbClr val="F7FAF7"/>
                  </a:solidFill>
                </a:defRPr>
              </a:pPr>
              <a:r>
                <a:t>VALIDATE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100">
                  <a:solidFill>
                    <a:srgbClr val="B5C3BB"/>
                  </a:solidFill>
                </a:defRPr>
              </a:pPr>
              <a:r>
                <a:t>Validate on appropriately collected Healthletics data.</a:t>
              </a:r>
            </a:p>
          </p:txBody>
        </p:sp>
      </p:grpSp>
      <p:grpSp>
        <p:nvGrpSpPr>
          <p:cNvPr id="231" name="Rounded Rectangle 5"/>
          <p:cNvGrpSpPr/>
          <p:nvPr/>
        </p:nvGrpSpPr>
        <p:grpSpPr>
          <a:xfrm>
            <a:off x="3429000" y="1828800"/>
            <a:ext cx="2468880" cy="3246121"/>
            <a:chOff x="0" y="0"/>
            <a:chExt cx="2468879" cy="3246120"/>
          </a:xfrm>
        </p:grpSpPr>
        <p:sp>
          <p:nvSpPr>
            <p:cNvPr id="229" name="Rounded Rectangle"/>
            <p:cNvSpPr/>
            <p:nvPr/>
          </p:nvSpPr>
          <p:spPr>
            <a:xfrm>
              <a:off x="0" y="0"/>
              <a:ext cx="2468880" cy="3246121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4ABE34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0" name="PHASE 2…"/>
            <p:cNvSpPr txBox="1"/>
            <p:nvPr/>
          </p:nvSpPr>
          <p:spPr>
            <a:xfrm>
              <a:off x="244155" y="1276780"/>
              <a:ext cx="1980570" cy="8480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000">
                  <a:solidFill>
                    <a:srgbClr val="4ABE34"/>
                  </a:solidFill>
                </a:defRPr>
              </a:pPr>
              <a:r>
                <a:t>PHASE 2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b="1" sz="1900">
                  <a:solidFill>
                    <a:srgbClr val="F7FAF7"/>
                  </a:solidFill>
                </a:defRPr>
              </a:pPr>
              <a:r>
                <a:t>PILOT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100">
                  <a:solidFill>
                    <a:srgbClr val="B5C3BB"/>
                  </a:solidFill>
                </a:defRPr>
              </a:pPr>
              <a:r>
                <a:t>Run a small retention workflow with staff oversight.</a:t>
              </a:r>
            </a:p>
          </p:txBody>
        </p:sp>
      </p:grpSp>
      <p:grpSp>
        <p:nvGrpSpPr>
          <p:cNvPr id="234" name="Rounded Rectangle 6"/>
          <p:cNvGrpSpPr/>
          <p:nvPr/>
        </p:nvGrpSpPr>
        <p:grpSpPr>
          <a:xfrm>
            <a:off x="6263640" y="1828800"/>
            <a:ext cx="2468881" cy="3246121"/>
            <a:chOff x="0" y="0"/>
            <a:chExt cx="2468879" cy="3246120"/>
          </a:xfrm>
        </p:grpSpPr>
        <p:sp>
          <p:nvSpPr>
            <p:cNvPr id="232" name="Rounded Rectangle"/>
            <p:cNvSpPr/>
            <p:nvPr/>
          </p:nvSpPr>
          <p:spPr>
            <a:xfrm>
              <a:off x="0" y="0"/>
              <a:ext cx="2468880" cy="3246121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4ABE34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3" name="PHASE 3…"/>
            <p:cNvSpPr txBox="1"/>
            <p:nvPr/>
          </p:nvSpPr>
          <p:spPr>
            <a:xfrm>
              <a:off x="244155" y="1276780"/>
              <a:ext cx="1980570" cy="8480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000">
                  <a:solidFill>
                    <a:srgbClr val="4ABE34"/>
                  </a:solidFill>
                </a:defRPr>
              </a:pPr>
              <a:r>
                <a:t>PHASE 3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b="1" sz="1900">
                  <a:solidFill>
                    <a:srgbClr val="F7FAF7"/>
                  </a:solidFill>
                </a:defRPr>
              </a:pPr>
              <a:r>
                <a:t>MEASURE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100">
                  <a:solidFill>
                    <a:srgbClr val="B5C3BB"/>
                  </a:solidFill>
                </a:defRPr>
              </a:pPr>
              <a:r>
                <a:t>Track retention outcomes, costs and fairness.</a:t>
              </a:r>
            </a:p>
          </p:txBody>
        </p:sp>
      </p:grpSp>
      <p:grpSp>
        <p:nvGrpSpPr>
          <p:cNvPr id="237" name="Rounded Rectangle 7"/>
          <p:cNvGrpSpPr/>
          <p:nvPr/>
        </p:nvGrpSpPr>
        <p:grpSpPr>
          <a:xfrm>
            <a:off x="9098280" y="1828800"/>
            <a:ext cx="2468881" cy="3246121"/>
            <a:chOff x="0" y="0"/>
            <a:chExt cx="2468879" cy="3246120"/>
          </a:xfrm>
        </p:grpSpPr>
        <p:sp>
          <p:nvSpPr>
            <p:cNvPr id="235" name="Rounded Rectangle"/>
            <p:cNvSpPr/>
            <p:nvPr/>
          </p:nvSpPr>
          <p:spPr>
            <a:xfrm>
              <a:off x="0" y="0"/>
              <a:ext cx="2468880" cy="3246121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4ABE34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6" name="PHASE 4…"/>
            <p:cNvSpPr txBox="1"/>
            <p:nvPr/>
          </p:nvSpPr>
          <p:spPr>
            <a:xfrm>
              <a:off x="244155" y="1276780"/>
              <a:ext cx="1980570" cy="8480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000">
                  <a:solidFill>
                    <a:srgbClr val="4ABE34"/>
                  </a:solidFill>
                </a:defRPr>
              </a:pPr>
              <a:r>
                <a:t>PHASE 4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b="1" sz="1900">
                  <a:solidFill>
                    <a:srgbClr val="F7FAF7"/>
                  </a:solidFill>
                </a:defRPr>
              </a:pPr>
              <a:r>
                <a:t>SCALE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100">
                  <a:solidFill>
                    <a:srgbClr val="B5C3BB"/>
                  </a:solidFill>
                </a:defRPr>
              </a:pPr>
              <a:r>
                <a:t>Deploy only if evidence supports value and responsible use.</a:t>
              </a:r>
            </a:p>
          </p:txBody>
        </p:sp>
      </p:grpSp>
      <p:sp>
        <p:nvSpPr>
          <p:cNvPr id="238" name="TextBox 8"/>
          <p:cNvSpPr txBox="1"/>
          <p:nvPr/>
        </p:nvSpPr>
        <p:spPr>
          <a:xfrm>
            <a:off x="9582398" y="6446520"/>
            <a:ext cx="1939043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800">
                <a:solidFill>
                  <a:srgbClr val="B5C3BB"/>
                </a:solidFill>
              </a:defRPr>
            </a:lvl1pPr>
          </a:lstStyle>
          <a:p>
            <a:pPr/>
            <a:r>
              <a:t>HEALTHLETICS  •  BUSINESS CAPSTONE  |  09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9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ectangle 1"/>
          <p:cNvSpPr/>
          <p:nvPr/>
        </p:nvSpPr>
        <p:spPr>
          <a:xfrm>
            <a:off x="-1" y="-1"/>
            <a:ext cx="12191697" cy="68582"/>
          </a:xfrm>
          <a:prstGeom prst="rect">
            <a:avLst/>
          </a:prstGeom>
          <a:solidFill>
            <a:srgbClr val="4ABE3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1" name="TextBox 2"/>
          <p:cNvSpPr txBox="1"/>
          <p:nvPr/>
        </p:nvSpPr>
        <p:spPr>
          <a:xfrm>
            <a:off x="640079" y="219456"/>
            <a:ext cx="1388844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900">
                <a:solidFill>
                  <a:srgbClr val="4ABE34"/>
                </a:solidFill>
              </a:defRPr>
            </a:lvl1pPr>
          </a:lstStyle>
          <a:p>
            <a:pPr/>
            <a:r>
              <a:t>09 • EXECUTIVE TAKEAWAY</a:t>
            </a:r>
          </a:p>
        </p:txBody>
      </p:sp>
      <p:sp>
        <p:nvSpPr>
          <p:cNvPr id="242" name="TextBox 3"/>
          <p:cNvSpPr txBox="1"/>
          <p:nvPr/>
        </p:nvSpPr>
        <p:spPr>
          <a:xfrm>
            <a:off x="640079" y="530351"/>
            <a:ext cx="4703501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F7FAF7"/>
                </a:solidFill>
              </a:defRPr>
            </a:lvl1pPr>
          </a:lstStyle>
          <a:p>
            <a:pPr/>
            <a:r>
              <a:t>Recommendation &amp; Next Steps</a:t>
            </a:r>
          </a:p>
        </p:txBody>
      </p:sp>
      <p:sp>
        <p:nvSpPr>
          <p:cNvPr id="243" name="TextBox 4"/>
          <p:cNvSpPr txBox="1"/>
          <p:nvPr/>
        </p:nvSpPr>
        <p:spPr>
          <a:xfrm>
            <a:off x="868680" y="1600200"/>
            <a:ext cx="6766560" cy="3320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1700">
                <a:solidFill>
                  <a:srgbClr val="F7FAF7"/>
                </a:solidFill>
              </a:defRPr>
            </a:pPr>
            <a:r>
              <a:t>• Proceed with a controlled validation/pilot rather than immediate production deployment.</a:t>
            </a:r>
          </a:p>
          <a:p>
            <a:pPr>
              <a:spcBef>
                <a:spcPts val="1200"/>
              </a:spcBef>
              <a:defRPr sz="1700">
                <a:solidFill>
                  <a:srgbClr val="F7FAF7"/>
                </a:solidFill>
              </a:defRPr>
            </a:pPr>
            <a:r>
              <a:t>• Use recent member activity decline as an early retention signal to investigate.</a:t>
            </a:r>
          </a:p>
          <a:p>
            <a:pPr>
              <a:spcBef>
                <a:spcPts val="1200"/>
              </a:spcBef>
              <a:defRPr sz="1700">
                <a:solidFill>
                  <a:srgbClr val="F7FAF7"/>
                </a:solidFill>
              </a:defRPr>
            </a:pPr>
            <a:r>
              <a:t>• Keep humans in the loop: the model should support staff decisions, not replace them.</a:t>
            </a:r>
          </a:p>
          <a:p>
            <a:pPr>
              <a:spcBef>
                <a:spcPts val="1200"/>
              </a:spcBef>
              <a:defRPr sz="1700">
                <a:solidFill>
                  <a:srgbClr val="F7FAF7"/>
                </a:solidFill>
              </a:defRPr>
            </a:pPr>
            <a:r>
              <a:t>• Measure actual retention uplift, intervention cost and member value to establish a defensible ROI.</a:t>
            </a:r>
          </a:p>
          <a:p>
            <a:pPr>
              <a:spcBef>
                <a:spcPts val="1200"/>
              </a:spcBef>
              <a:defRPr sz="1700">
                <a:solidFill>
                  <a:srgbClr val="F7FAF7"/>
                </a:solidFill>
              </a:defRPr>
            </a:pPr>
            <a:r>
              <a:t>• Scale only after performance, fairness, privacy and business value are demonstrated.</a:t>
            </a:r>
          </a:p>
        </p:txBody>
      </p:sp>
      <p:grpSp>
        <p:nvGrpSpPr>
          <p:cNvPr id="246" name="Rounded Rectangle 5"/>
          <p:cNvGrpSpPr/>
          <p:nvPr/>
        </p:nvGrpSpPr>
        <p:grpSpPr>
          <a:xfrm>
            <a:off x="8001000" y="769620"/>
            <a:ext cx="3063240" cy="1280161"/>
            <a:chOff x="0" y="0"/>
            <a:chExt cx="3063239" cy="1280160"/>
          </a:xfrm>
        </p:grpSpPr>
        <p:sp>
          <p:nvSpPr>
            <p:cNvPr id="244" name="Rounded Rectangle"/>
            <p:cNvSpPr/>
            <p:nvPr/>
          </p:nvSpPr>
          <p:spPr>
            <a:xfrm>
              <a:off x="0" y="0"/>
              <a:ext cx="3063240" cy="1280161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5" name="DECISION…"/>
            <p:cNvSpPr txBox="1"/>
            <p:nvPr/>
          </p:nvSpPr>
          <p:spPr>
            <a:xfrm>
              <a:off x="186126" y="300281"/>
              <a:ext cx="2764140" cy="7436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200">
                  <a:solidFill>
                    <a:srgbClr val="B5C3BB"/>
                  </a:solidFill>
                </a:defRPr>
              </a:pPr>
              <a:r>
                <a:t>DECISION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PILOT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B5C3BB"/>
                  </a:solidFill>
                </a:defRPr>
              </a:pPr>
              <a:r>
                <a:t>Validate before scaling</a:t>
              </a:r>
            </a:p>
          </p:txBody>
        </p:sp>
      </p:grpSp>
      <p:grpSp>
        <p:nvGrpSpPr>
          <p:cNvPr id="249" name="Rounded Rectangle 6"/>
          <p:cNvGrpSpPr/>
          <p:nvPr/>
        </p:nvGrpSpPr>
        <p:grpSpPr>
          <a:xfrm>
            <a:off x="8001000" y="2311400"/>
            <a:ext cx="3063240" cy="1280161"/>
            <a:chOff x="0" y="0"/>
            <a:chExt cx="3063239" cy="1280160"/>
          </a:xfrm>
        </p:grpSpPr>
        <p:sp>
          <p:nvSpPr>
            <p:cNvPr id="247" name="Rounded Rectangle"/>
            <p:cNvSpPr/>
            <p:nvPr/>
          </p:nvSpPr>
          <p:spPr>
            <a:xfrm>
              <a:off x="0" y="0"/>
              <a:ext cx="3063240" cy="1280161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8" name="SUCCESS MEASURE…"/>
            <p:cNvSpPr txBox="1"/>
            <p:nvPr/>
          </p:nvSpPr>
          <p:spPr>
            <a:xfrm>
              <a:off x="186126" y="300281"/>
              <a:ext cx="2764140" cy="7436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200">
                  <a:solidFill>
                    <a:srgbClr val="B5C3BB"/>
                  </a:solidFill>
                </a:defRPr>
              </a:pPr>
              <a:r>
                <a:t>SUCCESS MEASURE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RETENTION UPLIFT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B5C3BB"/>
                  </a:solidFill>
                </a:defRPr>
              </a:pPr>
              <a:r>
                <a:t>Compare outcomes</a:t>
              </a:r>
            </a:p>
          </p:txBody>
        </p:sp>
      </p:grpSp>
      <p:grpSp>
        <p:nvGrpSpPr>
          <p:cNvPr id="252" name="Rounded Rectangle 7"/>
          <p:cNvGrpSpPr/>
          <p:nvPr/>
        </p:nvGrpSpPr>
        <p:grpSpPr>
          <a:xfrm>
            <a:off x="8001000" y="3853179"/>
            <a:ext cx="3063240" cy="1280161"/>
            <a:chOff x="0" y="0"/>
            <a:chExt cx="3063239" cy="1280160"/>
          </a:xfrm>
        </p:grpSpPr>
        <p:sp>
          <p:nvSpPr>
            <p:cNvPr id="250" name="Rounded Rectangle"/>
            <p:cNvSpPr/>
            <p:nvPr/>
          </p:nvSpPr>
          <p:spPr>
            <a:xfrm>
              <a:off x="0" y="0"/>
              <a:ext cx="3063240" cy="1280161"/>
            </a:xfrm>
            <a:prstGeom prst="roundRect">
              <a:avLst>
                <a:gd name="adj" fmla="val 16667"/>
              </a:avLst>
            </a:prstGeom>
            <a:solidFill>
              <a:srgbClr val="121D17"/>
            </a:solidFill>
            <a:ln w="9525" cap="flat">
              <a:solidFill>
                <a:srgbClr val="304B3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1" name="GUARDRAIL…"/>
            <p:cNvSpPr txBox="1"/>
            <p:nvPr/>
          </p:nvSpPr>
          <p:spPr>
            <a:xfrm>
              <a:off x="186126" y="300281"/>
              <a:ext cx="2764140" cy="7436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200">
                  <a:solidFill>
                    <a:srgbClr val="B5C3BB"/>
                  </a:solidFill>
                </a:defRPr>
              </a:pPr>
              <a:r>
                <a:t>GUARDRAIL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0">
                  <a:solidFill>
                    <a:srgbClr val="4ABE34"/>
                  </a:solidFill>
                </a:defRPr>
              </a:pPr>
              <a:r>
                <a:t>RESPONSIBLE AI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B5C3BB"/>
                  </a:solidFill>
                </a:defRPr>
              </a:pPr>
              <a:r>
                <a:t>Fair + human-led</a:t>
              </a:r>
            </a:p>
          </p:txBody>
        </p:sp>
      </p:grpSp>
      <p:sp>
        <p:nvSpPr>
          <p:cNvPr id="253" name="TextBox 8"/>
          <p:cNvSpPr txBox="1"/>
          <p:nvPr/>
        </p:nvSpPr>
        <p:spPr>
          <a:xfrm>
            <a:off x="9582398" y="6446520"/>
            <a:ext cx="1939043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800">
                <a:solidFill>
                  <a:srgbClr val="B5C3BB"/>
                </a:solidFill>
              </a:defRPr>
            </a:lvl1pPr>
          </a:lstStyle>
          <a:p>
            <a:pPr/>
            <a:r>
              <a:t>HEALTHLETICS  •  BUSINESS CAPSTONE  |  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